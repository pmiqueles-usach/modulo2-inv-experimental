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3033be34-3792-eb70-673b-bb4357994f00}">
          <p14:sldIdLst>
            <p14:sldId id="256"/>
          </p14:sldIdLst>
        </p14:section>
        <p14:section name="Requisitos" id="{df4d0cc1-e072-3352-8e8c-ba78084b2007}">
          <p14:sldIdLst>
            <p14:sldId id="257"/>
          </p14:sldIdLst>
        </p14:section>
        <p14:section name="Código" id="{d179bffe-df00-ecb8-9b93-088be1cb6dae}">
          <p14:sldIdLst>
            <p14:sldId id="258"/>
            <p14:sldId id="259"/>
            <p14:sldId id="260"/>
            <p14:sldId id="261"/>
          </p14:sldIdLst>
        </p14:section>
        <p14:section name="Ejecución" id="{6daae6f8-48cd-f2da-ed51-08731959110e}">
          <p14:sldIdLst>
            <p14:sldId id="262"/>
            <p14:sldId id="263"/>
          </p14:sldIdLst>
        </p14:section>
        <p14:section name="Resultados" id="{d714e8d0-c065-9355-34c0-35dff2cafe7b}">
          <p14:sldIdLst>
            <p14:sldId id="264"/>
          </p14:sldIdLst>
        </p14:section>
        <p14:section name="Cierre" id="{8feb0787-fb3d-25e3-2cfa-f686594581e0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C++</c:v>
                </c:pt>
              </c:strCache>
            </c:strRef>
          </c:tx>
          <c:spPr>
            <a:solidFill>
              <a:srgbClr val="2B69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 = 500</c:v>
                  </c:pt>
                  <c:pt idx="1">
                    <c:v>N = 1000</c:v>
                  </c:pt>
                  <c:pt idx="2">
                    <c:v>N = 1500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0.0803</c:v>
                </c:pt>
                <c:pt idx="1">
                  <c:v>0.8889</c:v>
                </c:pt>
                <c:pt idx="2">
                  <c:v>5.5192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</c:v>
                </c:pt>
              </c:strCache>
            </c:strRef>
          </c:tx>
          <c:spPr>
            <a:solidFill>
              <a:srgbClr val="1F9A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 = 500</c:v>
                  </c:pt>
                  <c:pt idx="1">
                    <c:v>N = 1000</c:v>
                  </c:pt>
                  <c:pt idx="2">
                    <c:v>N = 1500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0.1182</c:v>
                </c:pt>
                <c:pt idx="1">
                  <c:v>1.4599</c:v>
                </c:pt>
                <c:pt idx="2">
                  <c:v>9.4153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Java</c:v>
                </c:pt>
              </c:strCache>
            </c:strRef>
          </c:tx>
          <c:spPr>
            <a:solidFill>
              <a:srgbClr val="C974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 = 500</c:v>
                  </c:pt>
                  <c:pt idx="1">
                    <c:v>N = 1000</c:v>
                  </c:pt>
                  <c:pt idx="2">
                    <c:v>N = 1500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0.1628</c:v>
                </c:pt>
                <c:pt idx="1">
                  <c:v>1.2196</c:v>
                </c:pt>
                <c:pt idx="2">
                  <c:v>8.7244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Python</c:v>
                </c:pt>
              </c:strCache>
            </c:strRef>
          </c:tx>
          <c:spPr>
            <a:solidFill>
              <a:srgbClr val="388B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 = 500</c:v>
                  </c:pt>
                  <c:pt idx="1">
                    <c:v>N = 1000</c:v>
                  </c:pt>
                  <c:pt idx="2">
                    <c:v>N = 1500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20.016</c:v>
                </c:pt>
                <c:pt idx="1">
                  <c:v>178.16</c:v>
                </c:pt>
                <c:pt idx="2">
                  <c:v>688.46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B3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0"/>
          <c:min val="0.01"/>
        </c:scaling>
        <c:delete val="0"/>
        <c:axPos val="l"/>
        <c:majorGridlines>
          <c:spPr>
            <a:ln w="9525" cap="flat">
              <a:solidFill>
                <a:srgbClr val="D5DF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27184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27184"/>
                    </a:solidFill>
                    <a:latin typeface="Arial"/>
                  </a:rPr>
                  <a:t>Tiempo medio [s] (escala log)</a:t>
                </a:r>
              </a:p>
            </c:rich>
          </c:tx>
          <c:layout/>
          <c:overlay val="0"/>
        </c:title>
        <c:numFmt formatCode="0.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2718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1F2B3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(0:00-0:30) Presentación. En la Semana 2 implementé el algoritmo naive en los 4 lenguajes, de forma que sean funcionalmente equivalentes, y ejecuté el experimento completo: 4 lenguajes x 3 tamaños x 10 repeticiones = 120 mediciones. Voy a mostrar el código, compilarlo en vivo y mostrar los primeros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(0:30-1:30) El enunciado exige equivalencia funcional: mismo algoritmo, tipo de dato, matrices y criterio de medición. Cada requisito se traduce en una decisión concreta del código. El punto clave es el 3: si usara el generador aleatorio nativo de cada lenguaje (mt19937, math/rand, java.util.Random, random), con la misma semilla obtendría matrices DISTINTAS. Por eso implementé el mismo generador, SplitMix64, en los cuatro.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(1:30-2:30) Los cuatro programas siguen exactamente el mismo flujo. Solo los pasos en azul están dentro del temporizador: la generación de A y B y la reserva de C quedan fuera, como exige el enunciado. Además, todos reciben los mismos argumentos (archivo de salida, tamaños, repeticiones, semilla), lo que permite automatizarlos igual en Docker y Snakemake en las semanas siguientes.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(2:30-3:30) Explicar el código: SplitMix64 es un generador de 64 bits muy simple: suma una constante al estado y mezcla los bits con dos multiplicaciones y XOR. Para pasar a double tomo los 53 bits altos (la mantisa de un double) y multiplico por 2^-53, lo que da un número exacto en [0,1). La dificultad es reproducir la aritmética sin signo de 64 bits: Go y C++ la tienen nativa; Java no tiene unsigned, pero la multiplicación de long da los mismos bits y uso &gt;&gt;&gt; para el desplazamiento lógico; Python tiene enteros arbitrarios, así que aplico una máscara de 64 bits después de cada operación.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(3:30-5:00) Explicar línea a línea con C++: i recorre las filas de A, j las columnas de B; para cada par (i,j) se acumula en una variable local 'suma' el producto fila por columna, y al final se escribe C[i][j]. Las matrices son arreglos planos: el elemento (i,k) está en i*n+k. Es la versión más directa: sin reordenar bucles, sin bloques, sin paralelismo. En Go la conversión explícita float64(...) impide que el compilador fusione multiplicación y suma (FMA); en C++ lo mismo se logra con -ffp-contract=off. Así los cuatro hacen exactamente las mismas operaciones de punto flotante en el mismo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(5:00-6:00) Mostrar dónde empieza y termina el tiempo: la generación de A y B y la reserva de C ocurren antes del ciclo; el reloj se inicia inmediatamente antes de multiplicar y se detiene al terminar. La escritura del CSV y el checksum quedan fuera. En los 4 lenguajes uso un reloj monotónico (no el reloj de pared), que no salta si el sistema ajusta la hora. Las 10 repeticiones se hacen en el mismo proceso; en Java la primera incluye el calentamiento del JIT, que decidí conservar y reportar en vez de descartar.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(6:00-6:45) Esta es la evidencia de equivalencia funcional: la suma de los N² elementos de C es idéntica hasta el último dígito en los 4 lenguajes. Esto solo ocurre si los datos de entrada son los mismos y las operaciones de punto flotante se hacen en el mismo orden. Es la base para que la comparación de tiempos sea justa: todos hacen exactamente el mismo trabajo.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(6:45-8:30) DEMO EN VIVO. En la terminal, desde la raíz del repositorio: scripts/semana2.sh. El script muestra cada comando antes de ejecutarlo y espera Enter entre lenguajes. Usa tamaños pequeños (N=200 y 400, 3 repeticiones) para que dure ~30 segundos. Comentar mientras corre: C++ y Go generan binarios nativos; Java compila a bytecode y la JVM lo compila con JIT durante la ejecución; Python se interpreta, por eso es dos órdenes de magnitud más lento. Al final, mostrar que los 4 checksums son idénticos. Si javac no está instalado, el script usa 'java MatMul.java' (modo archivo fuente). Plan B si algo falla: mostrar results/raw/*.csv de la corrida oficial.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(8:30-9:30) Resultados de la corrida oficial: 4 lenguajes x 3 tamaños x 10 repeticiones. Escala logarítmica porque Python está dos órdenes de magnitud por encima. C++ es el más rápido en todos los tamaños. Un hallazgo interesante: con N=500 Go es más rápido que Java, pero con N=1000 y 1500 Java supera a Go: eso anticipa una interacción lenguaje x tamaño, que se analizará con ANOVA de dos factores en la Semana 4. El entorno completo quedó registrado en results/environment/environment.md.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(9:30-10:00) Resumen de las decisiones que aseguran la comparabilidad. El código está en GitHub y cualquier compañero puede clonarlo y ejecutar scripts/semana2.sh para obtener sus propios resultados y verificar los checksums. La próxima semana el mismo código se empaqueta en contenedores Docker para que la ejecución no dependa de los compiladores instalados.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rgbClr val="7FD3DA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64592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657600"/>
            <a:ext cx="6949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6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Experimentación Computacional · Semana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7FD3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rgbClr val="7FD3DA"/>
                </a:solidFill>
              </a:rPr>
              <a:t>EXPERIMENTACIÓN COMPUTACIONAL · SEMANA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6459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Implementación y ejecución del experimento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6576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6E6"/>
                </a:solidFill>
              </a:rPr>
              <a:t>Multiplicación naive de matrices NxN en C++, Go, Java y Python: código, compilación en vivo y primeros resultados</a:t>
            </a:r>
            <a:endParaRPr lang="en-US" sz="1800" dirty="0"/>
          </a:p>
        </p:txBody>
      </p:sp>
      <p:sp>
        <p:nvSpPr>
          <p:cNvPr id="5" name="celda 00"/>
          <p:cNvSpPr/>
          <p:nvPr/>
        </p:nvSpPr>
        <p:spPr>
          <a:xfrm>
            <a:off x="8503920" y="146304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6" name="celda 01"/>
          <p:cNvSpPr/>
          <p:nvPr/>
        </p:nvSpPr>
        <p:spPr>
          <a:xfrm>
            <a:off x="9189720" y="146304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2">
              <a:alpha val="45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7" name="celda 02"/>
          <p:cNvSpPr/>
          <p:nvPr/>
        </p:nvSpPr>
        <p:spPr>
          <a:xfrm>
            <a:off x="9875520" y="146304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3">
              <a:alpha val="45000"/>
            </a:schemeClr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8" name="celda 03"/>
          <p:cNvSpPr/>
          <p:nvPr/>
        </p:nvSpPr>
        <p:spPr>
          <a:xfrm>
            <a:off x="10561320" y="146304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4">
              <a:alpha val="45000"/>
            </a:schemeClr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</p:sp>
      <p:sp>
        <p:nvSpPr>
          <p:cNvPr id="9" name="celda 10"/>
          <p:cNvSpPr/>
          <p:nvPr/>
        </p:nvSpPr>
        <p:spPr>
          <a:xfrm>
            <a:off x="8503920" y="214884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2">
              <a:alpha val="45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10" name="celda 11"/>
          <p:cNvSpPr/>
          <p:nvPr/>
        </p:nvSpPr>
        <p:spPr>
          <a:xfrm>
            <a:off x="9189720" y="214884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11" name="celda 12"/>
          <p:cNvSpPr/>
          <p:nvPr/>
        </p:nvSpPr>
        <p:spPr>
          <a:xfrm>
            <a:off x="9875520" y="214884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4">
              <a:alpha val="45000"/>
            </a:schemeClr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</p:sp>
      <p:sp>
        <p:nvSpPr>
          <p:cNvPr id="12" name="celda 13"/>
          <p:cNvSpPr/>
          <p:nvPr/>
        </p:nvSpPr>
        <p:spPr>
          <a:xfrm>
            <a:off x="10561320" y="214884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1">
              <a:alpha val="45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3" name="celda 20"/>
          <p:cNvSpPr/>
          <p:nvPr/>
        </p:nvSpPr>
        <p:spPr>
          <a:xfrm>
            <a:off x="8503920" y="283464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3">
              <a:alpha val="45000"/>
            </a:schemeClr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14" name="celda 21"/>
          <p:cNvSpPr/>
          <p:nvPr/>
        </p:nvSpPr>
        <p:spPr>
          <a:xfrm>
            <a:off x="9189720" y="283464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4">
              <a:alpha val="45000"/>
            </a:schemeClr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</p:sp>
      <p:sp>
        <p:nvSpPr>
          <p:cNvPr id="15" name="celda 22"/>
          <p:cNvSpPr/>
          <p:nvPr/>
        </p:nvSpPr>
        <p:spPr>
          <a:xfrm>
            <a:off x="9875520" y="283464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6" name="celda 23"/>
          <p:cNvSpPr/>
          <p:nvPr/>
        </p:nvSpPr>
        <p:spPr>
          <a:xfrm>
            <a:off x="10561320" y="283464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2">
              <a:alpha val="45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17" name="celda 30"/>
          <p:cNvSpPr/>
          <p:nvPr/>
        </p:nvSpPr>
        <p:spPr>
          <a:xfrm>
            <a:off x="8503920" y="352044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4">
              <a:alpha val="45000"/>
            </a:schemeClr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</p:sp>
      <p:sp>
        <p:nvSpPr>
          <p:cNvPr id="18" name="celda 31"/>
          <p:cNvSpPr/>
          <p:nvPr/>
        </p:nvSpPr>
        <p:spPr>
          <a:xfrm>
            <a:off x="9189720" y="352044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1">
              <a:alpha val="45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9" name="celda 32"/>
          <p:cNvSpPr/>
          <p:nvPr/>
        </p:nvSpPr>
        <p:spPr>
          <a:xfrm>
            <a:off x="9875520" y="352044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2">
              <a:alpha val="45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20" name="celda 33"/>
          <p:cNvSpPr/>
          <p:nvPr/>
        </p:nvSpPr>
        <p:spPr>
          <a:xfrm>
            <a:off x="10561320" y="352044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03920" y="4343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D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× B = C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</a:rPr>
              <a:t>github.com/Pmiqueles-usach/Modulo2-Inv-experimental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· LO QUE PIDE LA SEMANA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Seis requisitos, seis decisiones de implementación</a:t>
            </a:r>
            <a:endParaRPr lang="en-US" sz="3200" dirty="0"/>
          </a:p>
        </p:txBody>
      </p:sp>
      <p:sp>
        <p:nvSpPr>
          <p:cNvPr id="4" name="requisito 1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rgbClr val="D5DFEA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E">
                <a:alpha val="8000"/>
              </a:srgbClr>
            </a:outerShdw>
          </a:effectLst>
        </p:spPr>
      </p:sp>
      <p:sp>
        <p:nvSpPr>
          <p:cNvPr id="5" name="número 1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Mismo algoritmo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Triple bucle i‑j‑k, sin librerías optimizadas (sin BLAS ni NumPy)</a:t>
            </a:r>
            <a:endParaRPr lang="en-US" sz="1500" dirty="0"/>
          </a:p>
        </p:txBody>
      </p:sp>
      <p:sp>
        <p:nvSpPr>
          <p:cNvPr id="9" name="requisito 2"/>
          <p:cNvSpPr/>
          <p:nvPr/>
        </p:nvSpPr>
        <p:spPr>
          <a:xfrm>
            <a:off x="4297680" y="160020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rgbClr val="D5DFEA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E">
                <a:alpha val="8000"/>
              </a:srgbClr>
            </a:outerShdw>
          </a:effectLst>
        </p:spPr>
      </p:sp>
      <p:sp>
        <p:nvSpPr>
          <p:cNvPr id="10" name="número 2"/>
          <p:cNvSpPr/>
          <p:nvPr/>
        </p:nvSpPr>
        <p:spPr>
          <a:xfrm>
            <a:off x="457200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Mismo tipo de datos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514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double IEEE‑754 de 64 bits en arreglo plano row‑major</a:t>
            </a:r>
            <a:endParaRPr lang="en-US" sz="1500" dirty="0"/>
          </a:p>
        </p:txBody>
      </p:sp>
      <p:sp>
        <p:nvSpPr>
          <p:cNvPr id="14" name="requisito 3"/>
          <p:cNvSpPr/>
          <p:nvPr/>
        </p:nvSpPr>
        <p:spPr>
          <a:xfrm>
            <a:off x="8046720" y="160020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rgbClr val="D5DFEA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E">
                <a:alpha val="8000"/>
              </a:srgbClr>
            </a:outerShdw>
          </a:effectLst>
        </p:spPr>
      </p:sp>
      <p:sp>
        <p:nvSpPr>
          <p:cNvPr id="15" name="número 3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Mismas matrices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514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Generador SplitMix64 propio con semilla 42 en los 4 lenguajes</a:t>
            </a:r>
            <a:endParaRPr lang="en-US" sz="1500" dirty="0"/>
          </a:p>
        </p:txBody>
      </p:sp>
      <p:sp>
        <p:nvSpPr>
          <p:cNvPr id="19" name="requisito 4"/>
          <p:cNvSpPr/>
          <p:nvPr/>
        </p:nvSpPr>
        <p:spPr>
          <a:xfrm>
            <a:off x="548640" y="384048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rgbClr val="D5DFEA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E">
                <a:alpha val="8000"/>
              </a:srgbClr>
            </a:outerShdw>
          </a:effectLst>
        </p:spPr>
      </p:sp>
      <p:sp>
        <p:nvSpPr>
          <p:cNvPr id="20" name="número 4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Solo la multiplicación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754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Reloj monotónico; A, B y C ya creadas antes de iniciarlo</a:t>
            </a:r>
            <a:endParaRPr lang="en-US" sz="1500" dirty="0"/>
          </a:p>
        </p:txBody>
      </p:sp>
      <p:sp>
        <p:nvSpPr>
          <p:cNvPr id="24" name="requisito 5"/>
          <p:cNvSpPr/>
          <p:nvPr/>
        </p:nvSpPr>
        <p:spPr>
          <a:xfrm>
            <a:off x="4297680" y="384048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rgbClr val="D5DFEA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E">
                <a:alpha val="8000"/>
              </a:srgbClr>
            </a:outerShdw>
          </a:effectLst>
        </p:spPr>
      </p:sp>
      <p:sp>
        <p:nvSpPr>
          <p:cNvPr id="25" name="número 5"/>
          <p:cNvSpPr/>
          <p:nvPr/>
        </p:nvSpPr>
        <p:spPr>
          <a:xfrm>
            <a:off x="4572000" y="4114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 = 500, 1000, 1500 × 10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754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120 mediciones en cpp.csv, go.csv, java.csv y python.csv</a:t>
            </a:r>
            <a:endParaRPr lang="en-US" sz="1500" dirty="0"/>
          </a:p>
        </p:txBody>
      </p:sp>
      <p:sp>
        <p:nvSpPr>
          <p:cNvPr id="29" name="requisito 6"/>
          <p:cNvSpPr/>
          <p:nvPr/>
        </p:nvSpPr>
        <p:spPr>
          <a:xfrm>
            <a:off x="8046720" y="384048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rgbClr val="D5DFEA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E">
                <a:alpha val="8000"/>
              </a:srgbClr>
            </a:outerShdw>
          </a:effectLst>
        </p:spPr>
      </p:sp>
      <p:sp>
        <p:nvSpPr>
          <p:cNvPr id="30" name="número 6"/>
          <p:cNvSpPr/>
          <p:nvPr/>
        </p:nvSpPr>
        <p:spPr>
          <a:xfrm>
            <a:off x="8321040" y="4114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91540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Entorno registrado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754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CPU, RAM, SO, arquitectura y versiones de compiladores/VM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· ESTRUCTURA COMÚN DE LOS CUATRO PROGRAMAS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Mismo flujo y misma interfaz en los 4 lenguajes</a:t>
            </a:r>
            <a:endParaRPr lang="en-US" sz="3200" dirty="0"/>
          </a:p>
        </p:txBody>
      </p:sp>
      <p:sp>
        <p:nvSpPr>
          <p:cNvPr id="4" name="paso 1"/>
          <p:cNvSpPr/>
          <p:nvPr/>
        </p:nvSpPr>
        <p:spPr>
          <a:xfrm>
            <a:off x="548640" y="1645920"/>
            <a:ext cx="16916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rgbClr val="D5DF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28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Generar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y B con SplitMix64 (semilla 42)</a:t>
            </a:r>
            <a:endParaRPr lang="en-US" sz="1400" dirty="0"/>
          </a:p>
        </p:txBody>
      </p:sp>
      <p:sp>
        <p:nvSpPr>
          <p:cNvPr id="7" name="paso 2"/>
          <p:cNvSpPr/>
          <p:nvPr/>
        </p:nvSpPr>
        <p:spPr>
          <a:xfrm>
            <a:off x="2423160" y="1645920"/>
            <a:ext cx="16916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rgbClr val="D5DF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828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Reservar C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331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N×N ceros, fuera del tiempo</a:t>
            </a:r>
            <a:endParaRPr lang="en-US" sz="1400" dirty="0"/>
          </a:p>
        </p:txBody>
      </p:sp>
      <p:sp>
        <p:nvSpPr>
          <p:cNvPr id="10" name="paso 3"/>
          <p:cNvSpPr/>
          <p:nvPr/>
        </p:nvSpPr>
        <p:spPr>
          <a:xfrm>
            <a:off x="4297680" y="1645920"/>
            <a:ext cx="1691640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1828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Iniciar reloj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2331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justo antes de multiplicar</a:t>
            </a:r>
            <a:endParaRPr lang="en-US" sz="1400" dirty="0"/>
          </a:p>
        </p:txBody>
      </p:sp>
      <p:sp>
        <p:nvSpPr>
          <p:cNvPr id="13" name="paso 4"/>
          <p:cNvSpPr/>
          <p:nvPr/>
        </p:nvSpPr>
        <p:spPr>
          <a:xfrm>
            <a:off x="6172200" y="1645920"/>
            <a:ext cx="1691640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1828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multiplicar()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331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triple bucle i‑j‑k</a:t>
            </a:r>
            <a:endParaRPr lang="en-US" sz="1400" dirty="0"/>
          </a:p>
        </p:txBody>
      </p:sp>
      <p:sp>
        <p:nvSpPr>
          <p:cNvPr id="16" name="paso 5"/>
          <p:cNvSpPr/>
          <p:nvPr/>
        </p:nvSpPr>
        <p:spPr>
          <a:xfrm>
            <a:off x="8046720" y="1645920"/>
            <a:ext cx="1691640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1828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Detener reloj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2331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matriz C obtenida</a:t>
            </a:r>
            <a:endParaRPr lang="en-US" sz="1400" dirty="0"/>
          </a:p>
        </p:txBody>
      </p:sp>
      <p:sp>
        <p:nvSpPr>
          <p:cNvPr id="19" name="paso 6"/>
          <p:cNvSpPr/>
          <p:nvPr/>
        </p:nvSpPr>
        <p:spPr>
          <a:xfrm>
            <a:off x="9921240" y="1645920"/>
            <a:ext cx="16916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rgbClr val="D5DF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0" y="1828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Registrar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0" y="2331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CSV + checksum de C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25196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1"/>
                </a:solidFill>
              </a:rPr>
              <a:t>Tiempo medido = solo los pasos azules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Interfaz de línea de comandos idéntica</a:t>
            </a:r>
            <a:endParaRPr lang="en-US" sz="1800" dirty="0"/>
          </a:p>
        </p:txBody>
      </p:sp>
      <p:sp>
        <p:nvSpPr>
          <p:cNvPr id="24" name="interfaz CLI fondo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F2B39"/>
          </a:solidFill>
          <a:ln w="12700">
            <a:solidFill>
              <a:srgbClr val="1F2B39"/>
            </a:solidFill>
            <a:prstDash val="solid"/>
          </a:ln>
        </p:spPr>
      </p:sp>
      <p:sp>
        <p:nvSpPr>
          <p:cNvPr id="25" name="interfaz CLI"/>
          <p:cNvSpPr txBox="1"/>
          <p:nvPr/>
        </p:nvSpPr>
        <p:spPr>
          <a:xfrm>
            <a:off x="685800" y="4434840"/>
            <a:ext cx="10789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&lt;programa&gt; &lt;salida.csv&gt; &lt;tamaños&gt; &lt;repeticiones&gt; &lt;semilla&gt; [checksum.csv]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./matmul_cpp       results/raw/cpp.csv     500,1000,1500  10  42  checksum_cpp.csv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matmul.py  results/raw/python.csv  500,1000,1500  10  42  checksum_python.csv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· GENERACIÓN CONTROLADA DE LAS MATRICES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SplitMix64: las mismas matrices en los 4 lenguajes</a:t>
            </a:r>
            <a:endParaRPr lang="en-US" sz="3200" dirty="0"/>
          </a:p>
        </p:txBody>
      </p:sp>
      <p:sp>
        <p:nvSpPr>
          <p:cNvPr id="4" name="código SplitMix64 fondo"/>
          <p:cNvSpPr/>
          <p:nvPr/>
        </p:nvSpPr>
        <p:spPr>
          <a:xfrm>
            <a:off x="548640" y="1600200"/>
            <a:ext cx="6492240" cy="4526280"/>
          </a:xfrm>
          <a:prstGeom prst="roundRect">
            <a:avLst>
              <a:gd name="adj" fmla="val 2020"/>
            </a:avLst>
          </a:prstGeom>
          <a:solidFill>
            <a:srgbClr val="1F2B39"/>
          </a:solidFill>
          <a:ln w="12700">
            <a:solidFill>
              <a:srgbClr val="1F2B39"/>
            </a:solidFill>
            <a:prstDash val="solid"/>
          </a:ln>
        </p:spPr>
      </p:sp>
      <p:sp>
        <p:nvSpPr>
          <p:cNvPr id="5" name="código SplitMix64"/>
          <p:cNvSpPr txBox="1"/>
          <p:nvPr/>
        </p:nvSpPr>
        <p:spPr>
          <a:xfrm>
            <a:off x="685800" y="1691640"/>
            <a:ext cx="62179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A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C++ — src/cpp/matmul.cpp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SplitMix64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uint64_t state;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uint64_t next()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 += 0x9E3779B97F4A7C15ULL;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uint64_t z = state;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 = (z ^ (z &gt;&gt; 30)) * 0xBF58476D1CE4E5B9ULL;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 = (z ^ (z &gt;&gt; 27)) * 0x94D049BB133111EBULL;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z ^ (z &gt;&gt; 31);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A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real uniforme en [0,1) con 53 bits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next_double()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(next() &gt;&gt; 11) * 0x1.0p-53;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06640" y="1600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Cómo se adapta en cada lenguaje</a:t>
            </a:r>
            <a:endParaRPr lang="en-US" sz="1800" dirty="0"/>
          </a:p>
        </p:txBody>
      </p:sp>
      <p:sp>
        <p:nvSpPr>
          <p:cNvPr id="7" name="adaptación Go"/>
          <p:cNvSpPr/>
          <p:nvPr/>
        </p:nvSpPr>
        <p:spPr>
          <a:xfrm>
            <a:off x="7406640" y="2103120"/>
            <a:ext cx="42062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D5DFEA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E">
                <a:alpha val="8000"/>
              </a:srgbClr>
            </a:outerShdw>
          </a:effectLst>
        </p:spPr>
      </p:sp>
      <p:sp>
        <p:nvSpPr>
          <p:cNvPr id="8" name="chip Go"/>
          <p:cNvSpPr/>
          <p:nvPr/>
        </p:nvSpPr>
        <p:spPr>
          <a:xfrm>
            <a:off x="7589520" y="2368296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0" y="219456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uint64 nativo, aritmética módulo 2⁶⁴</a:t>
            </a:r>
            <a:endParaRPr lang="en-US" sz="1400" dirty="0"/>
          </a:p>
        </p:txBody>
      </p:sp>
      <p:sp>
        <p:nvSpPr>
          <p:cNvPr id="10" name="adaptación Java"/>
          <p:cNvSpPr/>
          <p:nvPr/>
        </p:nvSpPr>
        <p:spPr>
          <a:xfrm>
            <a:off x="7406640" y="3063240"/>
            <a:ext cx="42062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D5DFEA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E">
                <a:alpha val="8000"/>
              </a:srgbClr>
            </a:outerShdw>
          </a:effectLst>
        </p:spPr>
      </p:sp>
      <p:sp>
        <p:nvSpPr>
          <p:cNvPr id="11" name="chip Java"/>
          <p:cNvSpPr/>
          <p:nvPr/>
        </p:nvSpPr>
        <p:spPr>
          <a:xfrm>
            <a:off x="7589520" y="3328416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31546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Java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long con desplazamiento sin signo &gt;&gt;&gt;</a:t>
            </a:r>
            <a:endParaRPr lang="en-US" sz="1400" dirty="0"/>
          </a:p>
        </p:txBody>
      </p:sp>
      <p:sp>
        <p:nvSpPr>
          <p:cNvPr id="13" name="adaptación Python"/>
          <p:cNvSpPr/>
          <p:nvPr/>
        </p:nvSpPr>
        <p:spPr>
          <a:xfrm>
            <a:off x="7406640" y="4023360"/>
            <a:ext cx="42062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D5DFEA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E">
                <a:alpha val="8000"/>
              </a:srgbClr>
            </a:outerShdw>
          </a:effectLst>
        </p:spPr>
      </p:sp>
      <p:sp>
        <p:nvSpPr>
          <p:cNvPr id="14" name="chip Python"/>
          <p:cNvSpPr/>
          <p:nvPr/>
        </p:nvSpPr>
        <p:spPr>
          <a:xfrm>
            <a:off x="7589520" y="4288536"/>
            <a:ext cx="292608" cy="29260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0" y="41148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Python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enteros sin límite + máscara de 64 bits</a:t>
            </a:r>
            <a:endParaRPr lang="en-US" sz="1400" dirty="0"/>
          </a:p>
        </p:txBody>
      </p:sp>
      <p:sp>
        <p:nvSpPr>
          <p:cNvPr id="16" name="regla semilla"/>
          <p:cNvSpPr/>
          <p:nvPr/>
        </p:nvSpPr>
        <p:spPr>
          <a:xfrm>
            <a:off x="7406640" y="5074920"/>
            <a:ext cx="4206240" cy="1051560"/>
          </a:xfrm>
          <a:prstGeom prst="roundRect">
            <a:avLst>
              <a:gd name="adj" fmla="val 10435"/>
            </a:avLst>
          </a:prstGeom>
          <a:solidFill>
            <a:schemeClr val="accent6"/>
          </a:solidFill>
          <a:ln w="9525">
            <a:solidFill>
              <a:srgbClr val="D5DFEA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E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589520" y="51663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Para cada N el generador se reinicia con la semilla 42: primero se llena A y luego 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· EL ALGORITMO NAIVE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 misma función multiplicar() en los 4 lenguajes</a:t>
            </a:r>
            <a:endParaRPr lang="en-US" sz="3200" dirty="0"/>
          </a:p>
        </p:txBody>
      </p:sp>
      <p:sp>
        <p:nvSpPr>
          <p:cNvPr id="4" name="chip C++"/>
          <p:cNvSpPr/>
          <p:nvPr/>
        </p:nvSpPr>
        <p:spPr>
          <a:xfrm>
            <a:off x="548640" y="155448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etiqueta C++"/>
          <p:cNvSpPr txBox="1"/>
          <p:nvPr/>
        </p:nvSpPr>
        <p:spPr>
          <a:xfrm>
            <a:off x="932688" y="15179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C++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53619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src/cpp/matmul.cpp</a:t>
            </a:r>
            <a:endParaRPr lang="en-US" sz="1200" dirty="0"/>
          </a:p>
        </p:txBody>
      </p:sp>
      <p:sp>
        <p:nvSpPr>
          <p:cNvPr id="7" name="código C++ fondo"/>
          <p:cNvSpPr/>
          <p:nvPr/>
        </p:nvSpPr>
        <p:spPr>
          <a:xfrm>
            <a:off x="548640" y="196596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1F2B39"/>
          </a:solidFill>
          <a:ln w="12700">
            <a:solidFill>
              <a:srgbClr val="1F2B39"/>
            </a:solidFill>
            <a:prstDash val="solid"/>
          </a:ln>
        </p:spPr>
      </p:sp>
      <p:sp>
        <p:nvSpPr>
          <p:cNvPr id="8" name="código C++"/>
          <p:cNvSpPr txBox="1"/>
          <p:nvPr/>
        </p:nvSpPr>
        <p:spPr>
          <a:xfrm>
            <a:off x="685800" y="2057400"/>
            <a:ext cx="5166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n; ++i)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j = 0; j &lt; n; ++j)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suma = 0.0;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k = 0; k &lt; n; ++k)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suma += a[i*n+k] * b[k*n+j];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c[i*n+j] = suma;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</p:txBody>
      </p:sp>
      <p:sp>
        <p:nvSpPr>
          <p:cNvPr id="9" name="chip Go"/>
          <p:cNvSpPr/>
          <p:nvPr/>
        </p:nvSpPr>
        <p:spPr>
          <a:xfrm>
            <a:off x="6172200" y="1554480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etiqueta Go"/>
          <p:cNvSpPr txBox="1"/>
          <p:nvPr/>
        </p:nvSpPr>
        <p:spPr>
          <a:xfrm>
            <a:off x="6556248" y="15179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153619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src/go/matmul.go</a:t>
            </a:r>
            <a:endParaRPr lang="en-US" sz="1200" dirty="0"/>
          </a:p>
        </p:txBody>
      </p:sp>
      <p:sp>
        <p:nvSpPr>
          <p:cNvPr id="12" name="código Go fondo"/>
          <p:cNvSpPr/>
          <p:nvPr/>
        </p:nvSpPr>
        <p:spPr>
          <a:xfrm>
            <a:off x="6172200" y="196596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1F2B39"/>
          </a:solidFill>
          <a:ln w="12700">
            <a:solidFill>
              <a:srgbClr val="1F2B39"/>
            </a:solidFill>
            <a:prstDash val="solid"/>
          </a:ln>
        </p:spPr>
      </p:sp>
      <p:sp>
        <p:nvSpPr>
          <p:cNvPr id="13" name="código Go"/>
          <p:cNvSpPr txBox="1"/>
          <p:nvPr/>
        </p:nvSpPr>
        <p:spPr>
          <a:xfrm>
            <a:off x="6309360" y="2057400"/>
            <a:ext cx="5166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:= 0; i &lt; n; i++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j := 0; j &lt; n; j++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suma := 0.0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 := 0; k &lt; n; k++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suma += float64(a[i*n+k] * b[k*n+j])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c[i*n+j] = suma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chip Java"/>
          <p:cNvSpPr/>
          <p:nvPr/>
        </p:nvSpPr>
        <p:spPr>
          <a:xfrm>
            <a:off x="548640" y="3931920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etiqueta Java"/>
          <p:cNvSpPr txBox="1"/>
          <p:nvPr/>
        </p:nvSpPr>
        <p:spPr>
          <a:xfrm>
            <a:off x="932688" y="38953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Java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391363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src/java/MatMul.java</a:t>
            </a:r>
            <a:endParaRPr lang="en-US" sz="1200" dirty="0"/>
          </a:p>
        </p:txBody>
      </p:sp>
      <p:sp>
        <p:nvSpPr>
          <p:cNvPr id="17" name="código Java fondo"/>
          <p:cNvSpPr/>
          <p:nvPr/>
        </p:nvSpPr>
        <p:spPr>
          <a:xfrm>
            <a:off x="548640" y="43434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1F2B39"/>
          </a:solidFill>
          <a:ln w="12700">
            <a:solidFill>
              <a:srgbClr val="1F2B39"/>
            </a:solidFill>
            <a:prstDash val="solid"/>
          </a:ln>
        </p:spPr>
      </p:sp>
      <p:sp>
        <p:nvSpPr>
          <p:cNvPr id="18" name="código Java"/>
          <p:cNvSpPr txBox="1"/>
          <p:nvPr/>
        </p:nvSpPr>
        <p:spPr>
          <a:xfrm>
            <a:off x="685800" y="4434840"/>
            <a:ext cx="5166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n; i++)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j = 0; j &lt; n; j++)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suma = 0.0;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k = 0; k &lt; n; k++)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suma += a[i*n+k] * b[k*n+j];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c[i*n+j] = suma;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</p:txBody>
      </p:sp>
      <p:sp>
        <p:nvSpPr>
          <p:cNvPr id="19" name="chip Python"/>
          <p:cNvSpPr/>
          <p:nvPr/>
        </p:nvSpPr>
        <p:spPr>
          <a:xfrm>
            <a:off x="6172200" y="3931920"/>
            <a:ext cx="292608" cy="29260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etiqueta Python"/>
          <p:cNvSpPr txBox="1"/>
          <p:nvPr/>
        </p:nvSpPr>
        <p:spPr>
          <a:xfrm>
            <a:off x="6556248" y="38953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Python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91363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src/python/matmul.py</a:t>
            </a:r>
            <a:endParaRPr lang="en-US" sz="1200" dirty="0"/>
          </a:p>
        </p:txBody>
      </p:sp>
      <p:sp>
        <p:nvSpPr>
          <p:cNvPr id="22" name="código Python fondo"/>
          <p:cNvSpPr/>
          <p:nvPr/>
        </p:nvSpPr>
        <p:spPr>
          <a:xfrm>
            <a:off x="6172200" y="43434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1F2B39"/>
          </a:solidFill>
          <a:ln w="12700">
            <a:solidFill>
              <a:srgbClr val="1F2B39"/>
            </a:solidFill>
            <a:prstDash val="solid"/>
          </a:ln>
        </p:spPr>
      </p:sp>
      <p:sp>
        <p:nvSpPr>
          <p:cNvPr id="23" name="código Python"/>
          <p:cNvSpPr txBox="1"/>
          <p:nvPr/>
        </p:nvSpPr>
        <p:spPr>
          <a:xfrm>
            <a:off x="6309360" y="4434840"/>
            <a:ext cx="5166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range(n):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in range(n):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suma = 0.0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k in range(n):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suma += a[i*n+k] * b[k*n+j]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c[i*n+j] = suma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 · MEDICIÓN DEL TIEMPO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El temporizador solo envuelve la multiplicación</a:t>
            </a:r>
            <a:endParaRPr lang="en-US" sz="3200" dirty="0"/>
          </a:p>
        </p:txBody>
      </p:sp>
      <p:sp>
        <p:nvSpPr>
          <p:cNvPr id="4" name="código medición fondo"/>
          <p:cNvSpPr/>
          <p:nvPr/>
        </p:nvSpPr>
        <p:spPr>
          <a:xfrm>
            <a:off x="548640" y="1600200"/>
            <a:ext cx="6309360" cy="4526280"/>
          </a:xfrm>
          <a:prstGeom prst="roundRect">
            <a:avLst>
              <a:gd name="adj" fmla="val 2020"/>
            </a:avLst>
          </a:prstGeom>
          <a:solidFill>
            <a:srgbClr val="1F2B39"/>
          </a:solidFill>
          <a:ln w="12700">
            <a:solidFill>
              <a:srgbClr val="1F2B39"/>
            </a:solidFill>
            <a:prstDash val="solid"/>
          </a:ln>
        </p:spPr>
      </p:sp>
      <p:sp>
        <p:nvSpPr>
          <p:cNvPr id="5" name="código medición"/>
          <p:cNvSpPr txBox="1"/>
          <p:nvPr/>
        </p:nvSpPr>
        <p:spPr>
          <a:xfrm>
            <a:off x="685800" y="1691640"/>
            <a:ext cx="603504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A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— src/python/matmul.py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 = generar_matrices(n, semilla)   # fuera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[0.0] * (n * n)                   # fuera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 in range(1, repeticiones + 1):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inicio = time.perf_counter_ns()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multiplicar(n, a, b, c)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 = time.perf_counter_ns()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segundos = (fin - inicio) / 1e9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csv.write(f"python,{n},{r},{segundos:.9f}\n")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 checksum(c)                   # fuera</a:t>
            </a:r>
            <a:endParaRPr lang="en-US" sz="1400" dirty="0"/>
          </a:p>
        </p:txBody>
      </p:sp>
      <p:graphicFrame>
        <p:nvGraphicFramePr>
          <p:cNvPr id="7" name="tabla reloj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600200"/>
          <a:ext cx="4389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004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Lenguaje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Reloj monotónico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C++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std::chrono::steady_clock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Go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time.Now() / time.Since()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Java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System.nanoTime()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Python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time.perf_counter_ns()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nota checksum"/>
          <p:cNvSpPr/>
          <p:nvPr/>
        </p:nvSpPr>
        <p:spPr>
          <a:xfrm>
            <a:off x="7223760" y="4069080"/>
            <a:ext cx="4389120" cy="2057400"/>
          </a:xfrm>
          <a:prstGeom prst="roundRect">
            <a:avLst>
              <a:gd name="adj" fmla="val 5333"/>
            </a:avLst>
          </a:prstGeom>
          <a:solidFill>
            <a:schemeClr val="accent6"/>
          </a:solidFill>
          <a:ln w="9525">
            <a:solidFill>
              <a:srgbClr val="D5DFEA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E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406640" y="420624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¿Por qué calcular un checksum?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La suma de C se calcula fuera del tiempo. Permite verificar que los 4 lenguajes obtienen el mismo resultado y evita que el compilador elimine la multiplicación como código muerto.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06 · VERIFICACIÓN DE EQUIVALENCIA FUNCIONAL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Los 4 lenguajes calculan exactamente la misma matriz</a:t>
            </a:r>
            <a:endParaRPr lang="en-US" sz="3200" dirty="0"/>
          </a:p>
        </p:txBody>
      </p:sp>
      <p:graphicFrame>
        <p:nvGraphicFramePr>
          <p:cNvPr id="8" name="tabla checksum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846320"/>
                <a:gridCol w="1280160"/>
                <a:gridCol w="12801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16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Suma de todos los elementos de C</a:t>
                      </a:r>
                      <a:endParaRPr lang="en-US" sz="16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C++</a:t>
                      </a:r>
                      <a:endParaRPr lang="en-US" sz="16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Go</a:t>
                      </a:r>
                      <a:endParaRPr lang="en-US" sz="16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Java</a:t>
                      </a:r>
                      <a:endParaRPr lang="en-US" sz="16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sz="16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500</a:t>
                      </a:r>
                      <a:endParaRPr lang="en-US" sz="16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31 283 745.652596552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en-US" sz="16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250 196 210.25040233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1500</a:t>
                      </a:r>
                      <a:endParaRPr lang="en-US" sz="16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844 048 831.71274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punto 1"/>
          <p:cNvSpPr/>
          <p:nvPr/>
        </p:nvSpPr>
        <p:spPr>
          <a:xfrm>
            <a:off x="548640" y="406908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D5DFEA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E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4251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Igualdad bit a bit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7091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solo «aproximadamente igual»: 17 dígitos idénticos en las 120 ejecuciones.</a:t>
            </a:r>
            <a:endParaRPr lang="en-US" sz="1400" dirty="0"/>
          </a:p>
        </p:txBody>
      </p:sp>
      <p:sp>
        <p:nvSpPr>
          <p:cNvPr id="8" name="punto 2"/>
          <p:cNvSpPr/>
          <p:nvPr/>
        </p:nvSpPr>
        <p:spPr>
          <a:xfrm>
            <a:off x="4297680" y="406908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D5DFEA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E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526280" y="4251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Por qué es posible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47091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Mismos datos, mismo orden de operaciones y sin FMA (-ffp-contract=off en C++, float64(…) en Go).</a:t>
            </a:r>
            <a:endParaRPr lang="en-US" sz="1400" dirty="0"/>
          </a:p>
        </p:txBody>
      </p:sp>
      <p:sp>
        <p:nvSpPr>
          <p:cNvPr id="11" name="punto 3"/>
          <p:cNvSpPr/>
          <p:nvPr/>
        </p:nvSpPr>
        <p:spPr>
          <a:xfrm>
            <a:off x="8046720" y="406908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D5DFEA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E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275320" y="4251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Evidencia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47091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results/verification/equivalence_report.md, generado automáticamente.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07 · DEMOSTRACIÓN EN VIVO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Compilar y ejecutar: un comando por lenguaje</a:t>
            </a:r>
            <a:endParaRPr lang="en-US" sz="3200" dirty="0"/>
          </a:p>
        </p:txBody>
      </p:sp>
      <p:sp>
        <p:nvSpPr>
          <p:cNvPr id="4" name="chip C++"/>
          <p:cNvSpPr/>
          <p:nvPr/>
        </p:nvSpPr>
        <p:spPr>
          <a:xfrm>
            <a:off x="548640" y="155448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etiqueta C++"/>
          <p:cNvSpPr txBox="1"/>
          <p:nvPr/>
        </p:nvSpPr>
        <p:spPr>
          <a:xfrm>
            <a:off x="932688" y="15179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C++</a:t>
            </a:r>
            <a:endParaRPr lang="en-US" sz="1600" dirty="0"/>
          </a:p>
        </p:txBody>
      </p:sp>
      <p:sp>
        <p:nvSpPr>
          <p:cNvPr id="6" name="comandos C++ fondo"/>
          <p:cNvSpPr/>
          <p:nvPr/>
        </p:nvSpPr>
        <p:spPr>
          <a:xfrm>
            <a:off x="548640" y="1965960"/>
            <a:ext cx="5440680" cy="1097280"/>
          </a:xfrm>
          <a:prstGeom prst="roundRect">
            <a:avLst>
              <a:gd name="adj" fmla="val 8333"/>
            </a:avLst>
          </a:prstGeom>
          <a:solidFill>
            <a:srgbClr val="1F2B39"/>
          </a:solidFill>
          <a:ln w="12700">
            <a:solidFill>
              <a:srgbClr val="1F2B39"/>
            </a:solidFill>
            <a:prstDash val="solid"/>
          </a:ln>
        </p:spPr>
      </p:sp>
      <p:sp>
        <p:nvSpPr>
          <p:cNvPr id="7" name="comandos C++"/>
          <p:cNvSpPr txBox="1"/>
          <p:nvPr/>
        </p:nvSpPr>
        <p:spPr>
          <a:xfrm>
            <a:off x="685800" y="205740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g++ -O2 -std=c++17 -ffp-contract=off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-o matmul_cpp src/cpp/matmul.cpp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./matmul_cpp cpp.csv 200,400 3 42</a:t>
            </a:r>
            <a:endParaRPr lang="en-US" sz="1200" dirty="0"/>
          </a:p>
        </p:txBody>
      </p:sp>
      <p:sp>
        <p:nvSpPr>
          <p:cNvPr id="8" name="chip Go"/>
          <p:cNvSpPr/>
          <p:nvPr/>
        </p:nvSpPr>
        <p:spPr>
          <a:xfrm>
            <a:off x="6172200" y="1554480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etiqueta Go"/>
          <p:cNvSpPr txBox="1"/>
          <p:nvPr/>
        </p:nvSpPr>
        <p:spPr>
          <a:xfrm>
            <a:off x="6556248" y="15179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Go</a:t>
            </a:r>
            <a:endParaRPr lang="en-US" sz="1600" dirty="0"/>
          </a:p>
        </p:txBody>
      </p:sp>
      <p:sp>
        <p:nvSpPr>
          <p:cNvPr id="10" name="comandos Go fondo"/>
          <p:cNvSpPr/>
          <p:nvPr/>
        </p:nvSpPr>
        <p:spPr>
          <a:xfrm>
            <a:off x="6172200" y="1965960"/>
            <a:ext cx="5440680" cy="1097280"/>
          </a:xfrm>
          <a:prstGeom prst="roundRect">
            <a:avLst>
              <a:gd name="adj" fmla="val 8333"/>
            </a:avLst>
          </a:prstGeom>
          <a:solidFill>
            <a:srgbClr val="1F2B39"/>
          </a:solidFill>
          <a:ln w="12700">
            <a:solidFill>
              <a:srgbClr val="1F2B39"/>
            </a:solidFill>
            <a:prstDash val="solid"/>
          </a:ln>
        </p:spPr>
      </p:sp>
      <p:sp>
        <p:nvSpPr>
          <p:cNvPr id="11" name="comandos Go"/>
          <p:cNvSpPr txBox="1"/>
          <p:nvPr/>
        </p:nvSpPr>
        <p:spPr>
          <a:xfrm>
            <a:off x="6309360" y="205740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-C src/go build -o ../../matmul_go 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./matmul_go go.csv 200,400 3 42</a:t>
            </a:r>
            <a:endParaRPr lang="en-US" sz="1200" dirty="0"/>
          </a:p>
        </p:txBody>
      </p:sp>
      <p:sp>
        <p:nvSpPr>
          <p:cNvPr id="12" name="chip Java"/>
          <p:cNvSpPr/>
          <p:nvPr/>
        </p:nvSpPr>
        <p:spPr>
          <a:xfrm>
            <a:off x="548640" y="3246120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etiqueta Java"/>
          <p:cNvSpPr txBox="1"/>
          <p:nvPr/>
        </p:nvSpPr>
        <p:spPr>
          <a:xfrm>
            <a:off x="932688" y="32095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Java</a:t>
            </a:r>
            <a:endParaRPr lang="en-US" sz="1600" dirty="0"/>
          </a:p>
        </p:txBody>
      </p:sp>
      <p:sp>
        <p:nvSpPr>
          <p:cNvPr id="14" name="comandos Java fondo"/>
          <p:cNvSpPr/>
          <p:nvPr/>
        </p:nvSpPr>
        <p:spPr>
          <a:xfrm>
            <a:off x="548640" y="3657600"/>
            <a:ext cx="5440680" cy="1097280"/>
          </a:xfrm>
          <a:prstGeom prst="roundRect">
            <a:avLst>
              <a:gd name="adj" fmla="val 8333"/>
            </a:avLst>
          </a:prstGeom>
          <a:solidFill>
            <a:srgbClr val="1F2B39"/>
          </a:solidFill>
          <a:ln w="12700">
            <a:solidFill>
              <a:srgbClr val="1F2B39"/>
            </a:solidFill>
            <a:prstDash val="solid"/>
          </a:ln>
        </p:spPr>
      </p:sp>
      <p:sp>
        <p:nvSpPr>
          <p:cNvPr id="15" name="comandos Java"/>
          <p:cNvSpPr txBox="1"/>
          <p:nvPr/>
        </p:nvSpPr>
        <p:spPr>
          <a:xfrm>
            <a:off x="685800" y="374904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javac -d bin src/java/MatMul.java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-cp bin MatMul java.csv 200,400 3 42</a:t>
            </a:r>
            <a:endParaRPr lang="en-US" sz="1200" dirty="0"/>
          </a:p>
        </p:txBody>
      </p:sp>
      <p:sp>
        <p:nvSpPr>
          <p:cNvPr id="16" name="chip Python"/>
          <p:cNvSpPr/>
          <p:nvPr/>
        </p:nvSpPr>
        <p:spPr>
          <a:xfrm>
            <a:off x="6172200" y="3246120"/>
            <a:ext cx="292608" cy="29260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etiqueta Python"/>
          <p:cNvSpPr txBox="1"/>
          <p:nvPr/>
        </p:nvSpPr>
        <p:spPr>
          <a:xfrm>
            <a:off x="6556248" y="32095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Python</a:t>
            </a:r>
            <a:endParaRPr lang="en-US" sz="1600" dirty="0"/>
          </a:p>
        </p:txBody>
      </p:sp>
      <p:sp>
        <p:nvSpPr>
          <p:cNvPr id="18" name="comandos Python fondo"/>
          <p:cNvSpPr/>
          <p:nvPr/>
        </p:nvSpPr>
        <p:spPr>
          <a:xfrm>
            <a:off x="6172200" y="3657600"/>
            <a:ext cx="5440680" cy="1097280"/>
          </a:xfrm>
          <a:prstGeom prst="roundRect">
            <a:avLst>
              <a:gd name="adj" fmla="val 8333"/>
            </a:avLst>
          </a:prstGeom>
          <a:solidFill>
            <a:srgbClr val="1F2B39"/>
          </a:solidFill>
          <a:ln w="12700">
            <a:solidFill>
              <a:srgbClr val="1F2B39"/>
            </a:solidFill>
            <a:prstDash val="solid"/>
          </a:ln>
        </p:spPr>
      </p:sp>
      <p:sp>
        <p:nvSpPr>
          <p:cNvPr id="19" name="comandos Python"/>
          <p:cNvSpPr txBox="1"/>
          <p:nvPr/>
        </p:nvSpPr>
        <p:spPr>
          <a:xfrm>
            <a:off x="6309360" y="374904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 compilación: CPython interpreta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src/python/matmul.py python.csv 200,400 3 42</a:t>
            </a:r>
            <a:endParaRPr lang="en-US" sz="1200" dirty="0"/>
          </a:p>
        </p:txBody>
      </p:sp>
      <p:sp>
        <p:nvSpPr>
          <p:cNvPr id="20" name="comando demo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9525">
            <a:solidFill>
              <a:srgbClr val="D5DFEA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E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77240" y="5120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Todo junto en la clase: 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scripts/semana2.sh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  compila, ejecuta, muestra los CSV, los tiempos medios y verifica los checksums (≈30 s)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08 · PRIMEROS RESULTADOS (120 MEDICIONES)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C++ es el más rápido y Python ≈125–250× más lento</a:t>
            </a:r>
            <a:endParaRPr lang="en-US" sz="3200" dirty="0"/>
          </a:p>
        </p:txBody>
      </p:sp>
      <p:graphicFrame>
        <p:nvGraphicFramePr>
          <p:cNvPr id="4" name="gráfico tiempos" descr=""/>
          <p:cNvGraphicFramePr/>
          <p:nvPr/>
        </p:nvGraphicFramePr>
        <p:xfrm>
          <a:off x="548640" y="1508760"/>
          <a:ext cx="694944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ifra Python / C++"/>
          <p:cNvSpPr/>
          <p:nvPr/>
        </p:nvSpPr>
        <p:spPr>
          <a:xfrm>
            <a:off x="7772400" y="1508760"/>
            <a:ext cx="384048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5DFEA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E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955280" y="16184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125–249×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9692640" y="1664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Python / C++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21671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la brecha se reduce al crecer N</a:t>
            </a:r>
            <a:endParaRPr lang="en-US" sz="1200" dirty="0"/>
          </a:p>
        </p:txBody>
      </p:sp>
      <p:sp>
        <p:nvSpPr>
          <p:cNvPr id="9" name="cifra Java / C++"/>
          <p:cNvSpPr/>
          <p:nvPr/>
        </p:nvSpPr>
        <p:spPr>
          <a:xfrm>
            <a:off x="7772400" y="2743200"/>
            <a:ext cx="384048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5DFEA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E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955280" y="28529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1,4–2,0×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9692640" y="2898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Java / C++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3401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más lento que Go con N = 500, más rápido con N ≥ 1000</a:t>
            </a:r>
            <a:endParaRPr lang="en-US" sz="1200" dirty="0"/>
          </a:p>
        </p:txBody>
      </p:sp>
      <p:sp>
        <p:nvSpPr>
          <p:cNvPr id="13" name="cifra Go / C++"/>
          <p:cNvSpPr/>
          <p:nvPr/>
        </p:nvSpPr>
        <p:spPr>
          <a:xfrm>
            <a:off x="7772400" y="3977640"/>
            <a:ext cx="384048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5DFEA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E">
                <a:alpha val="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955280" y="40873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1,5–1,7×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9692640" y="4133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Go / C++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4636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brecha estable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525780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Entorno: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Intel Core Ultra 7 165H · 30 GB RAM · Fedora 42 x86_64 · g++ 14.2 · Go 1.23.4 · OpenJDK 21.0.5 · CPython 3.12.8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rgbClr val="7FD3DA"/>
                </a:solidFill>
              </a:rPr>
              <a:t>09 · CIERRE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Comparabilidad asegurada y lista para reproducir</a:t>
            </a:r>
            <a:endParaRPr lang="en-US" sz="3200" dirty="0"/>
          </a:p>
        </p:txBody>
      </p:sp>
      <p:sp>
        <p:nvSpPr>
          <p:cNvPr id="4" name="decisiones"/>
          <p:cNvSpPr txBox="1"/>
          <p:nvPr/>
        </p:nvSpPr>
        <p:spPr>
          <a:xfrm>
            <a:off x="548640" y="160020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700" dirty="0">
                <a:solidFill>
                  <a:schemeClr val="bg1"/>
                </a:solidFill>
              </a:rPr>
              <a:t>Mismo generador y semilla → mismas matrices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700" dirty="0">
                <a:solidFill>
                  <a:schemeClr val="bg1"/>
                </a:solidFill>
              </a:rPr>
              <a:t>Arreglo plano row‑major y bucle i‑j‑k en todos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700" dirty="0">
                <a:solidFill>
                  <a:schemeClr val="bg1"/>
                </a:solidFill>
              </a:rPr>
              <a:t>Sin FMA → resultado idéntico bit a bit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700" dirty="0">
                <a:solidFill>
                  <a:schemeClr val="bg1"/>
                </a:solidFill>
              </a:rPr>
              <a:t>Reloj monotónico solo en la multiplicación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700" dirty="0">
                <a:solidFill>
                  <a:schemeClr val="bg1"/>
                </a:solidFill>
              </a:rPr>
              <a:t>Optimización por defecto de cada ecosistema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700" dirty="0">
                <a:solidFill>
                  <a:schemeClr val="bg1"/>
                </a:solidFill>
              </a:rPr>
              <a:t>Calentamiento JIT de Java documentado, no oculto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6002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D3DA"/>
                </a:solidFill>
              </a:rPr>
              <a:t>Ejecútalo tú (compañeros)</a:t>
            </a:r>
            <a:endParaRPr lang="en-US" sz="1800" dirty="0"/>
          </a:p>
        </p:txBody>
      </p:sp>
      <p:sp>
        <p:nvSpPr>
          <p:cNvPr id="6" name="comandos compañeros fondo"/>
          <p:cNvSpPr/>
          <p:nvPr/>
        </p:nvSpPr>
        <p:spPr>
          <a:xfrm>
            <a:off x="6309360" y="210312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1F2B39"/>
          </a:solidFill>
          <a:ln w="12700">
            <a:solidFill>
              <a:srgbClr val="1F2B39"/>
            </a:solidFill>
            <a:prstDash val="solid"/>
          </a:ln>
        </p:spPr>
      </p:sp>
      <p:sp>
        <p:nvSpPr>
          <p:cNvPr id="7" name="comandos compañeros"/>
          <p:cNvSpPr txBox="1"/>
          <p:nvPr/>
        </p:nvSpPr>
        <p:spPr>
          <a:xfrm>
            <a:off x="6446520" y="21945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Pmiqueles-usach/Modulo2-Inv-experimental.git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Modulo2-Inv-experimental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scripts/semana2.sh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experimento completo: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scripts/semana2.sh 500,1000,1500 10 42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40233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6E6"/>
                </a:solidFill>
              </a:rPr>
              <a:t>Requisitos: g++, Go ≥ 1.20, JDK ≥ 11 y Python ≥ 3.9. Sin compiladores: README §9 (Docker).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0C4"/>
                </a:solidFill>
              </a:rPr>
              <a:t>Próxima semana: imágenes Docker para cada lenguaje → artifact «Functional» (ACM).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perimentacion Semana 2">
  <a:themeElements>
    <a:clrScheme name="Experimentacion Semana 2">
      <a:dk1>
        <a:srgbClr val="1F2B39"/>
      </a:dk1>
      <a:lt1>
        <a:srgbClr val="FFFFFF"/>
      </a:lt1>
      <a:dk2>
        <a:srgbClr val="12233E"/>
      </a:dk2>
      <a:lt2>
        <a:srgbClr val="F2F6FA"/>
      </a:lt2>
      <a:accent1>
        <a:srgbClr val="2B69B0"/>
      </a:accent1>
      <a:accent2>
        <a:srgbClr val="1F9AA4"/>
      </a:accent2>
      <a:accent3>
        <a:srgbClr val="C9741E"/>
      </a:accent3>
      <a:accent4>
        <a:srgbClr val="388B66"/>
      </a:accent4>
      <a:accent5>
        <a:srgbClr val="627184"/>
      </a:accent5>
      <a:accent6>
        <a:srgbClr val="E1EDF9"/>
      </a:accent6>
      <a:hlink>
        <a:srgbClr val="2B69B0"/>
      </a:hlink>
      <a:folHlink>
        <a:srgbClr val="627184"/>
      </a:folHlink>
    </a:clrScheme>
    <a:fontScheme name="Experimentacion Semana 2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2 - Implementación y ejecución del experimento</dc:title>
  <dc:subject>PptxGenJS Presentation</dc:subject>
  <dc:creator>Pmiqueles-usach</dc:creator>
  <cp:lastModifiedBy>Pmiqueles-usach</cp:lastModifiedBy>
  <cp:revision>1</cp:revision>
  <dcterms:created xsi:type="dcterms:W3CDTF">2026-10-19T22:02:02Z</dcterms:created>
  <dcterms:modified xsi:type="dcterms:W3CDTF">2026-10-19T22:02:02Z</dcterms:modified>
</cp:coreProperties>
</file>