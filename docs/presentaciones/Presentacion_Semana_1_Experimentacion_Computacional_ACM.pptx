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731520"/>
            <a:ext cx="2011680" cy="2011680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371600" cy="1371600"/>
          </a:xfrm>
          <a:prstGeom prst="ellipse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834640"/>
            <a:ext cx="1005840" cy="1005840"/>
          </a:xfrm>
          <a:prstGeom prst="ellipse">
            <a:avLst/>
          </a:prstGeom>
          <a:solidFill>
            <a:srgbClr val="495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0" y="4114800"/>
            <a:ext cx="347472" cy="292608"/>
          </a:xfrm>
          <a:prstGeom prst="round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23960" y="4114800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0" y="4114800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29800" y="4114800"/>
            <a:ext cx="347472" cy="292608"/>
          </a:xfrm>
          <a:prstGeom prst="round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0" y="4553712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3960" y="4553712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4553712"/>
            <a:ext cx="347472" cy="292608"/>
          </a:xfrm>
          <a:prstGeom prst="round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9800" y="4553712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4992624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4992624"/>
            <a:ext cx="347472" cy="292608"/>
          </a:xfrm>
          <a:prstGeom prst="round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4992624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29800" y="4992624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5431536"/>
            <a:ext cx="347472" cy="292608"/>
          </a:xfrm>
          <a:prstGeom prst="round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5431536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5431536"/>
            <a:ext cx="347472" cy="292608"/>
          </a:xfrm>
          <a:prstGeom prst="roundRect">
            <a:avLst/>
          </a:prstGeom>
          <a:solidFill>
            <a:srgbClr val="425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5431536"/>
            <a:ext cx="347472" cy="292608"/>
          </a:xfrm>
          <a:prstGeom prst="round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777240"/>
            <a:ext cx="6858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3B8C2"/>
                </a:solidFill>
                <a:latin typeface="Aptos"/>
              </a:rPr>
              <a:t>EXPERIMENTACIÓN COMPUTACIONAL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417320"/>
            <a:ext cx="68580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Diseño experimental,
GitHub y documentación del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246120"/>
            <a:ext cx="63093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D2DEEE"/>
                </a:solidFill>
                <a:latin typeface="Aptos"/>
              </a:rPr>
              <a:t>Semana 1 · Reproducibilidad y replicabilidad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40680"/>
            <a:ext cx="6949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Benchmark de multiplicación de matrices NxN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925312"/>
            <a:ext cx="6949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3B8C2"/>
                </a:solidFill>
                <a:latin typeface="Aptos"/>
              </a:rPr>
              <a:t>C++ · Go · Java ·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01 · CONTEXTO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2233E"/>
                </a:solidFill>
                <a:latin typeface="Aptos"/>
              </a:rPr>
              <a:t>¿Qué vamos a investigar?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200" b="1">
                <a:solidFill>
                  <a:srgbClr val="2B69B0"/>
                </a:solidFill>
                <a:latin typeface="Aptos"/>
              </a:defRPr>
            </a:pPr>
            <a:r>
              <a:t>OBJETIVO</a:t>
            </a:r>
          </a:p>
          <a:p>
            <a:pPr>
              <a:spcAft>
                <a:spcPts val="1500"/>
              </a:spcAft>
              <a:defRPr sz="2000" b="1">
                <a:solidFill>
                  <a:srgbClr val="1F2B39"/>
                </a:solidFill>
                <a:latin typeface="Aptos"/>
              </a:defRPr>
            </a:pPr>
            <a:r>
              <a:t>Diseñar un experimento computacional reproducible para comparar el tiempo de ejecución del algoritmo naive de multiplicación de matrices cuadradas NxN.</a:t>
            </a:r>
          </a:p>
          <a:p>
            <a:pPr>
              <a:spcAft>
                <a:spcPts val="700"/>
              </a:spcAft>
              <a:defRPr sz="1500" b="0">
                <a:solidFill>
                  <a:srgbClr val="627184"/>
                </a:solidFill>
                <a:latin typeface="Aptos"/>
              </a:defRPr>
            </a:pPr>
            <a:r>
              <a:t>El mismo problema se implementará en cuatro lenguajes.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B69B0"/>
                </a:solidFill>
                <a:latin typeface="Aptos"/>
              </a:rPr>
              <a:t>IMPLEMENTACIONES A COMPARAR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500"/>
              </a:spcAft>
              <a:defRPr sz="2300" b="1">
                <a:solidFill>
                  <a:srgbClr val="2B69B0"/>
                </a:solidFill>
                <a:latin typeface="Aptos"/>
              </a:defRPr>
            </a:pPr>
            <a:r>
              <a:t>C++</a:t>
            </a:r>
          </a:p>
          <a:p>
            <a:pPr>
              <a:spcAft>
                <a:spcPts val="700"/>
              </a:spcAft>
              <a:defRPr sz="1100" b="0">
                <a:solidFill>
                  <a:srgbClr val="627184"/>
                </a:solidFill>
                <a:latin typeface="Aptos"/>
              </a:defRPr>
            </a:pPr>
            <a:r>
              <a:t>Rendimiento compilado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500"/>
              </a:spcAft>
              <a:defRPr sz="2300" b="1">
                <a:solidFill>
                  <a:srgbClr val="33B8C2"/>
                </a:solidFill>
                <a:latin typeface="Aptos"/>
              </a:defRPr>
            </a:pPr>
            <a:r>
              <a:t>Go</a:t>
            </a:r>
          </a:p>
          <a:p>
            <a:pPr>
              <a:spcAft>
                <a:spcPts val="700"/>
              </a:spcAft>
              <a:defRPr sz="1100" b="0">
                <a:solidFill>
                  <a:srgbClr val="627184"/>
                </a:solidFill>
                <a:latin typeface="Aptos"/>
              </a:defRPr>
            </a:pPr>
            <a:r>
              <a:t>Compilación nativa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38328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500"/>
              </a:spcAft>
              <a:defRPr sz="2300" b="1">
                <a:solidFill>
                  <a:srgbClr val="DC8B30"/>
                </a:solidFill>
                <a:latin typeface="Aptos"/>
              </a:defRPr>
            </a:pPr>
            <a:r>
              <a:t>Java</a:t>
            </a:r>
          </a:p>
          <a:p>
            <a:pPr>
              <a:spcAft>
                <a:spcPts val="700"/>
              </a:spcAft>
              <a:defRPr sz="1100" b="0">
                <a:solidFill>
                  <a:srgbClr val="627184"/>
                </a:solidFill>
                <a:latin typeface="Aptos"/>
              </a:defRPr>
            </a:pPr>
            <a:r>
              <a:t>Máquina virtual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38328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500"/>
              </a:spcAft>
              <a:defRPr sz="2300" b="1">
                <a:solidFill>
                  <a:srgbClr val="388B66"/>
                </a:solidFill>
                <a:latin typeface="Aptos"/>
              </a:defRPr>
            </a:pPr>
            <a:r>
              <a:t>Python</a:t>
            </a:r>
          </a:p>
          <a:p>
            <a:pPr>
              <a:spcAft>
                <a:spcPts val="700"/>
              </a:spcAft>
              <a:defRPr sz="1100" b="0">
                <a:solidFill>
                  <a:srgbClr val="627184"/>
                </a:solidFill>
                <a:latin typeface="Aptos"/>
              </a:defRPr>
            </a:pPr>
            <a:r>
              <a:t>Ejecución interpretada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33E"/>
                </a:solidFill>
                <a:latin typeface="Aptos"/>
              </a:rPr>
              <a:t>Enfoque: comparación justa, medición consistente y documentación suficiente para repetir el experimento.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02 · PREGUNTA E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2233E"/>
                </a:solidFill>
                <a:latin typeface="Aptos"/>
              </a:rPr>
              <a:t>Pregunta de investigación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881360" cy="132588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700"/>
              </a:spcAft>
              <a:defRPr sz="2100" b="1">
                <a:solidFill>
                  <a:srgbClr val="1F2B39"/>
                </a:solidFill>
                <a:latin typeface="Aptos"/>
              </a:defRPr>
            </a:pPr>
            <a:r>
              <a:t>¿Existen diferencias estadísticamente significativas en el tiempo de ejecución entre C++, Go, Java y Python, y cómo varían según el tamaño de la matriz?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21208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000"/>
              </a:spcAft>
              <a:defRPr sz="1300" b="1">
                <a:solidFill>
                  <a:srgbClr val="2B69B0"/>
                </a:solidFill>
                <a:latin typeface="Aptos"/>
              </a:defRPr>
            </a:pPr>
            <a:r>
              <a:t>H₀ · HIPÓTESIS NULA</a:t>
            </a:r>
          </a:p>
          <a:p>
            <a:pPr>
              <a:spcAft>
                <a:spcPts val="700"/>
              </a:spcAft>
              <a:defRPr sz="1900" b="0">
                <a:solidFill>
                  <a:srgbClr val="1F2B39"/>
                </a:solidFill>
                <a:latin typeface="Aptos"/>
              </a:defRPr>
            </a:pPr>
            <a:r>
              <a:t>El lenguaje de implementación no produce diferencias estadísticamente significativas en el tiempo de ejecución.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063240"/>
            <a:ext cx="5349240" cy="2148840"/>
          </a:xfrm>
          <a:prstGeom prst="roundRect">
            <a:avLst/>
          </a:prstGeom>
          <a:solidFill>
            <a:srgbClr val="FFF0DC"/>
          </a:solidFill>
          <a:ln>
            <a:solidFill>
              <a:srgbClr val="FF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000"/>
              </a:spcAft>
              <a:defRPr sz="1300" b="1">
                <a:solidFill>
                  <a:srgbClr val="DC8B30"/>
                </a:solidFill>
                <a:latin typeface="Aptos"/>
              </a:defRPr>
            </a:pPr>
            <a:r>
              <a:t>H₁ · HIPÓTESIS ALTERNATIVA</a:t>
            </a:r>
          </a:p>
          <a:p>
            <a:pPr>
              <a:spcAft>
                <a:spcPts val="700"/>
              </a:spcAft>
              <a:defRPr sz="1900" b="0">
                <a:solidFill>
                  <a:srgbClr val="1F2B39"/>
                </a:solidFill>
                <a:latin typeface="Aptos"/>
              </a:defRPr>
            </a:pPr>
            <a:r>
              <a:t>Al menos uno de los lenguajes presenta un tiempo de ejecución significativamente diferente.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27184"/>
                </a:solidFill>
                <a:latin typeface="Aptos"/>
              </a:rPr>
              <a:t>Las hipótesis se contrastarán posteriormente con los resultados experimentales.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03 · VARIABLES EXPERIMENTALES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2233E"/>
                </a:solidFill>
                <a:latin typeface="Aptos"/>
              </a:rPr>
              <a:t>¿Qué cambia y qué medimos?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60020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000" b="1">
                <a:solidFill>
                  <a:srgbClr val="2B69B0"/>
                </a:solidFill>
                <a:latin typeface="Aptos"/>
              </a:defRPr>
            </a:pPr>
            <a:r>
              <a:t>VARIABLE INDEPENDIENTE 1</a:t>
            </a:r>
          </a:p>
          <a:p>
            <a:pPr>
              <a:spcAft>
                <a:spcPts val="500"/>
              </a:spcAft>
              <a:defRPr sz="1800" b="1">
                <a:solidFill>
                  <a:srgbClr val="1F2B39"/>
                </a:solidFill>
                <a:latin typeface="Aptos"/>
              </a:defRPr>
            </a:pPr>
            <a:r>
              <a:t>Lenguaje de programación</a:t>
            </a:r>
          </a:p>
          <a:p>
            <a:pPr>
              <a:spcAft>
                <a:spcPts val="700"/>
              </a:spcAft>
              <a:defRPr sz="1300" b="0">
                <a:solidFill>
                  <a:srgbClr val="627184"/>
                </a:solidFill>
                <a:latin typeface="Aptos"/>
              </a:defRPr>
            </a:pPr>
            <a:r>
              <a:t>C++ · Go · Java · 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1600200"/>
          </a:xfrm>
          <a:prstGeom prst="roundRect">
            <a:avLst/>
          </a:prstGeom>
          <a:solidFill>
            <a:srgbClr val="DFF6F6"/>
          </a:solidFill>
          <a:ln>
            <a:solidFill>
              <a:srgbClr val="DF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000" b="1">
                <a:solidFill>
                  <a:srgbClr val="33B8C2"/>
                </a:solidFill>
                <a:latin typeface="Aptos"/>
              </a:defRPr>
            </a:pPr>
            <a:r>
              <a:t>VARIABLE INDEPENDIENTE 2</a:t>
            </a:r>
          </a:p>
          <a:p>
            <a:pPr>
              <a:spcAft>
                <a:spcPts val="500"/>
              </a:spcAft>
              <a:defRPr sz="1800" b="1">
                <a:solidFill>
                  <a:srgbClr val="1F2B39"/>
                </a:solidFill>
                <a:latin typeface="Aptos"/>
              </a:defRPr>
            </a:pPr>
            <a:r>
              <a:t>Tamaño de matriz</a:t>
            </a:r>
          </a:p>
          <a:p>
            <a:pPr>
              <a:spcAft>
                <a:spcPts val="700"/>
              </a:spcAft>
              <a:defRPr sz="1300" b="0">
                <a:solidFill>
                  <a:srgbClr val="627184"/>
                </a:solidFill>
                <a:latin typeface="Aptos"/>
              </a:defRPr>
            </a:pPr>
            <a:r>
              <a:t>N = 500 · 1000 · 1500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474720" cy="1600200"/>
          </a:xfrm>
          <a:prstGeom prst="roundRect">
            <a:avLst/>
          </a:prstGeom>
          <a:solidFill>
            <a:srgbClr val="FFF0DC"/>
          </a:solidFill>
          <a:ln>
            <a:solidFill>
              <a:srgbClr val="FF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000" b="1">
                <a:solidFill>
                  <a:srgbClr val="DC8B30"/>
                </a:solidFill>
                <a:latin typeface="Aptos"/>
              </a:defRPr>
            </a:pPr>
            <a:r>
              <a:t>VARIABLE DEPENDIENTE</a:t>
            </a:r>
          </a:p>
          <a:p>
            <a:pPr>
              <a:spcAft>
                <a:spcPts val="500"/>
              </a:spcAft>
              <a:defRPr sz="1800" b="1">
                <a:solidFill>
                  <a:srgbClr val="1F2B39"/>
                </a:solidFill>
                <a:latin typeface="Aptos"/>
              </a:defRPr>
            </a:pPr>
            <a:r>
              <a:t>Tiempo de ejecución</a:t>
            </a:r>
          </a:p>
          <a:p>
            <a:pPr>
              <a:spcAft>
                <a:spcPts val="700"/>
              </a:spcAft>
              <a:defRPr sz="1300" b="0">
                <a:solidFill>
                  <a:srgbClr val="627184"/>
                </a:solidFill>
                <a:latin typeface="Aptos"/>
              </a:defRPr>
            </a:pPr>
            <a:r>
              <a:t>Segundos por multiplicación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6766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000"/>
              </a:spcAft>
              <a:defRPr sz="1200" b="1">
                <a:solidFill>
                  <a:srgbClr val="2B69B0"/>
                </a:solidFill>
                <a:latin typeface="Aptos"/>
              </a:defRPr>
            </a:pPr>
            <a:r>
              <a:t>CONDICIONES CONTROLADAS</a:t>
            </a:r>
          </a:p>
          <a:p>
            <a:pPr>
              <a:spcAft>
                <a:spcPts val="700"/>
              </a:spcAft>
              <a:defRPr sz="1600" b="0">
                <a:solidFill>
                  <a:srgbClr val="1F2B39"/>
                </a:solidFill>
                <a:latin typeface="Aptos"/>
              </a:defRPr>
            </a:pPr>
            <a:r>
              <a:t>• Mismo algoritmo naive y equivalencia funcional</a:t>
            </a:r>
            <a:br/>
            <a:r>
              <a:t>• Matrices generadas con semilla definida</a:t>
            </a:r>
            <a:br/>
            <a:r>
              <a:t>• Mismo criterio de temporización</a:t>
            </a:r>
            <a:br/>
            <a:r>
              <a:t>• Excluir generación e inicialización de matrices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474720"/>
            <a:ext cx="3794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000"/>
              </a:spcAft>
              <a:defRPr sz="1200" b="1">
                <a:solidFill>
                  <a:srgbClr val="2B69B0"/>
                </a:solidFill>
                <a:latin typeface="Aptos"/>
              </a:defRPr>
            </a:pPr>
            <a:r>
              <a:t>ENTORNO A REGISTRAR</a:t>
            </a:r>
          </a:p>
          <a:p>
            <a:pPr>
              <a:spcAft>
                <a:spcPts val="700"/>
              </a:spcAft>
              <a:defRPr sz="1500" b="0">
                <a:solidFill>
                  <a:srgbClr val="1F2B39"/>
                </a:solidFill>
                <a:latin typeface="Aptos"/>
              </a:defRPr>
            </a:pPr>
            <a:r>
              <a:t>Procesador · RAM · Sistema operativo · Arquitectura · Versiones de lenguajes, compiladores o máquinas virtuales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04 · DISEÑO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2233E"/>
                </a:solidFill>
                <a:latin typeface="Aptos"/>
              </a:rPr>
              <a:t>Plan de ejecuciones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103120" cy="502920"/>
          </a:xfrm>
          <a:prstGeom prst="rect">
            <a:avLst/>
          </a:prstGeom>
          <a:solidFill>
            <a:srgbClr val="12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Lenguaje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54480"/>
            <a:ext cx="2103120" cy="502920"/>
          </a:xfrm>
          <a:prstGeom prst="rect">
            <a:avLst/>
          </a:prstGeom>
          <a:solidFill>
            <a:srgbClr val="12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 = 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59" y="1554480"/>
            <a:ext cx="2103120" cy="502920"/>
          </a:xfrm>
          <a:prstGeom prst="rect">
            <a:avLst/>
          </a:prstGeom>
          <a:solidFill>
            <a:srgbClr val="12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 = 1000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79" y="1554480"/>
            <a:ext cx="2103120" cy="502920"/>
          </a:xfrm>
          <a:prstGeom prst="rect">
            <a:avLst/>
          </a:prstGeom>
          <a:solidFill>
            <a:srgbClr val="12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 = 1500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554480"/>
            <a:ext cx="2103120" cy="502920"/>
          </a:xfrm>
          <a:prstGeom prst="rect">
            <a:avLst/>
          </a:prstGeom>
          <a:solidFill>
            <a:srgbClr val="12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57400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C++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2057400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2057400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79" y="2057400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057400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2B39"/>
                </a:solidFill>
                <a:latin typeface="Aptos"/>
              </a:rPr>
              <a:t>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624328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624328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2624328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79" y="2624328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624328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2B39"/>
                </a:solidFill>
                <a:latin typeface="Aptos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191256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39" y="3191256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3191256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79" y="3191256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191256"/>
            <a:ext cx="2103120" cy="566928"/>
          </a:xfrm>
          <a:prstGeom prst="rect">
            <a:avLst/>
          </a:prstGeom>
          <a:solidFill>
            <a:srgbClr val="E1ED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2B39"/>
                </a:solidFill>
                <a:latin typeface="Aptos"/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758183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233E"/>
                </a:solidFill>
                <a:latin typeface="Aptos"/>
              </a:rPr>
              <a:t>Python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758183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59" y="3758183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79" y="3758183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F2B39"/>
                </a:solidFill>
                <a:latin typeface="Aptos"/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758183"/>
            <a:ext cx="2103120" cy="566928"/>
          </a:xfrm>
          <a:prstGeom prst="rect">
            <a:avLst/>
          </a:prstGeom>
          <a:solidFill>
            <a:srgbClr val="F2F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2B39"/>
                </a:solidFill>
                <a:latin typeface="Aptos"/>
              </a:rPr>
              <a:t>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00600"/>
            <a:ext cx="4937760" cy="960120"/>
          </a:xfrm>
          <a:prstGeom prst="roundRect">
            <a:avLst/>
          </a:prstGeom>
          <a:solidFill>
            <a:srgbClr val="DFF6F6"/>
          </a:solidFill>
          <a:ln>
            <a:solidFill>
              <a:srgbClr val="DF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700"/>
              </a:spcAft>
              <a:defRPr sz="1800" b="1">
                <a:solidFill>
                  <a:srgbClr val="2B69B0"/>
                </a:solidFill>
                <a:latin typeface="Aptos"/>
              </a:defRPr>
            </a:pPr>
            <a:r>
              <a:t>12 combinaciones experimentales</a:t>
            </a:r>
          </a:p>
          <a:p>
            <a:pPr>
              <a:spcAft>
                <a:spcPts val="700"/>
              </a:spcAft>
              <a:defRPr sz="1300" b="0">
                <a:solidFill>
                  <a:srgbClr val="627184"/>
                </a:solidFill>
                <a:latin typeface="Aptos"/>
              </a:defRPr>
            </a:pPr>
            <a:r>
              <a:t>4 lenguajes × 3 tamaños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800600"/>
            <a:ext cx="4937760" cy="960120"/>
          </a:xfrm>
          <a:prstGeom prst="roundRect">
            <a:avLst/>
          </a:prstGeom>
          <a:solidFill>
            <a:srgbClr val="E5F3EB"/>
          </a:solidFill>
          <a:ln>
            <a:solidFill>
              <a:srgbClr val="E5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700"/>
              </a:spcAft>
              <a:defRPr sz="1800" b="1">
                <a:solidFill>
                  <a:srgbClr val="388B66"/>
                </a:solidFill>
                <a:latin typeface="Aptos"/>
              </a:defRPr>
            </a:pPr>
            <a:r>
              <a:t>120 ejecuciones en total</a:t>
            </a:r>
          </a:p>
          <a:p>
            <a:pPr>
              <a:spcAft>
                <a:spcPts val="700"/>
              </a:spcAft>
              <a:defRPr sz="1300" b="0">
                <a:solidFill>
                  <a:srgbClr val="627184"/>
                </a:solidFill>
                <a:latin typeface="Aptos"/>
              </a:defRPr>
            </a:pPr>
            <a:r>
              <a:t>12 combinaciones × 10 repeticiones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27184"/>
                </a:solidFill>
                <a:latin typeface="Aptos"/>
              </a:rPr>
              <a:t>El temporizador solo debe abarcar la multiplicación, con las matrices previamente creadas.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05 · PROTOCOLO DE MEDICIÓN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2233E"/>
                </a:solidFill>
                <a:latin typeface="Aptos"/>
              </a:rPr>
              <a:t>Una medición comparable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417320"/>
            <a:ext cx="475488" cy="475488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99032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Preparar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99032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Generar las matrices con una semilla fija.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258568"/>
            <a:ext cx="475488" cy="475488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4028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Iniciar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40280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Comenzar el temporizador justo antes de multiplicar.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099816"/>
            <a:ext cx="475488" cy="475488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81528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Ejecutar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81528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Calcular la matriz resultante con el algoritmo naive.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941064"/>
            <a:ext cx="475488" cy="475488"/>
          </a:xfrm>
          <a:prstGeom prst="ellipse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22776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Finalizar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922776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Detener el temporizador al completar la operación.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782312"/>
            <a:ext cx="475488" cy="475488"/>
          </a:xfrm>
          <a:prstGeom prst="ellipse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64024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Registrar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764024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Guardar lenguaje, N, repetición y tiempo en segundos.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06440"/>
            <a:ext cx="10607040" cy="502920"/>
          </a:xfrm>
          <a:prstGeom prst="roundRect">
            <a:avLst/>
          </a:prstGeom>
          <a:solidFill>
            <a:srgbClr val="FFF0DC"/>
          </a:solidFill>
          <a:ln>
            <a:solidFill>
              <a:srgbClr val="FF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700"/>
              </a:spcAft>
              <a:defRPr sz="1500" b="1">
                <a:solidFill>
                  <a:srgbClr val="DC8B30"/>
                </a:solidFill>
                <a:latin typeface="Aptos"/>
              </a:defRPr>
            </a:pPr>
            <a:r>
              <a:t>Importante: no incluir en el tiempo medido la generación, inicialización ni carga de las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06 · GITHUB Y 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2233E"/>
                </a:solidFill>
                <a:latin typeface="Aptos"/>
              </a:rPr>
              <a:t>El repositorio como artifact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20640" cy="425196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200" b="1">
                <a:solidFill>
                  <a:srgbClr val="2B69B0"/>
                </a:solidFill>
                <a:latin typeface="Aptos"/>
              </a:defRPr>
            </a:pPr>
            <a:r>
              <a:t>README.md · CONTENIDO MÍNIMO</a:t>
            </a:r>
          </a:p>
          <a:p>
            <a:pPr>
              <a:spcAft>
                <a:spcPts val="700"/>
              </a:spcAft>
              <a:defRPr sz="1700" b="0">
                <a:solidFill>
                  <a:srgbClr val="1F2B39"/>
                </a:solidFill>
                <a:latin typeface="Aptos"/>
              </a:defRPr>
            </a:pPr>
            <a:r>
              <a:t>1. Objetivo y pregunta de investigación</a:t>
            </a:r>
            <a:br/>
            <a:r>
              <a:t>2. Hipótesis H₀ y H₁</a:t>
            </a:r>
            <a:br/>
            <a:r>
              <a:t>3. Variables independientes y dependiente</a:t>
            </a:r>
            <a:br/>
            <a:r>
              <a:t>4. Condiciones controladas</a:t>
            </a:r>
            <a:br/>
            <a:r>
              <a:t>5. Diseño experimental y repeticiones</a:t>
            </a:r>
            <a:br/>
            <a:r>
              <a:t>6. Entorno que se registrará</a:t>
            </a:r>
            <a:br/>
            <a:r>
              <a:t>7. Estructura y evolución del proyecto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394960" cy="182880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2B69B0"/>
                </a:solidFill>
                <a:latin typeface="Aptos"/>
              </a:defRPr>
            </a:pPr>
            <a:r>
              <a:t>ESTRUCTURA INICIAL</a:t>
            </a:r>
          </a:p>
          <a:p>
            <a:pPr>
              <a:spcAft>
                <a:spcPts val="700"/>
              </a:spcAft>
              <a:defRPr sz="1700" b="0">
                <a:solidFill>
                  <a:srgbClr val="1F2B39"/>
                </a:solidFill>
                <a:latin typeface="Aptos"/>
              </a:defRPr>
            </a:pPr>
            <a:r>
              <a:t>benchmark-matrices-reproducible/</a:t>
            </a:r>
            <a:br/>
            <a:r>
              <a:t>├── README.md</a:t>
            </a:r>
            <a:br/>
            <a:r>
              <a:t>├── src/</a:t>
            </a:r>
            <a:br/>
            <a:r>
              <a:t>├── results/</a:t>
            </a:r>
            <a:br/>
            <a:r>
              <a:t>└── docs/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657600"/>
            <a:ext cx="5029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33E"/>
                </a:solidFill>
                <a:latin typeface="Aptos"/>
              </a:rPr>
              <a:t>Control de versiones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114800"/>
            <a:ext cx="4846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Registrar cambios en el diseño y mantener las instrucciones actualizadas para facilitar la revisión y ejecución por terceros.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27184"/>
                </a:solidFill>
                <a:latin typeface="Aptos"/>
              </a:rPr>
              <a:t>La Semana 1 exige crear el repositorio y una versión inicial del README.md.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07 · ACM ARTIFACT REVIEW &amp; BADGING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2233E"/>
                </a:solidFill>
                <a:latin typeface="Aptos"/>
              </a:rPr>
              <a:t>¿Cómo evaluaremos el artifact?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2B69B0"/>
                </a:solidFill>
                <a:latin typeface="Aptos"/>
              </a:defRPr>
            </a:pPr>
            <a:r>
              <a:t>01 · DOCUMENTACIÓN</a:t>
            </a:r>
          </a:p>
          <a:p>
            <a:pPr>
              <a:spcAft>
                <a:spcPts val="700"/>
              </a:spcAft>
              <a:defRPr sz="1600" b="0">
                <a:solidFill>
                  <a:srgbClr val="1F2B39"/>
                </a:solidFill>
                <a:latin typeface="Aptos"/>
              </a:defRPr>
            </a:pPr>
            <a:r>
              <a:t>¿Se describen objetivo, variables, pasos y dependencias?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388B66"/>
                </a:solidFill>
                <a:latin typeface="Aptos"/>
              </a:defRPr>
            </a:pPr>
            <a:r>
              <a:t>02 · EJECUTABILIDAD</a:t>
            </a:r>
          </a:p>
          <a:p>
            <a:pPr>
              <a:spcAft>
                <a:spcPts val="700"/>
              </a:spcAft>
              <a:defRPr sz="1600" b="0">
                <a:solidFill>
                  <a:srgbClr val="1F2B39"/>
                </a:solidFill>
                <a:latin typeface="Aptos"/>
              </a:defRPr>
            </a:pPr>
            <a:r>
              <a:t>¿Otra persona podrá ejecutar el experimento con las instrucciones?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2B69B0"/>
                </a:solidFill>
                <a:latin typeface="Aptos"/>
              </a:defRPr>
            </a:pPr>
            <a:r>
              <a:t>03 · VERIFICABILIDAD</a:t>
            </a:r>
          </a:p>
          <a:p>
            <a:pPr>
              <a:spcAft>
                <a:spcPts val="700"/>
              </a:spcAft>
              <a:defRPr sz="1600" b="0">
                <a:solidFill>
                  <a:srgbClr val="1F2B39"/>
                </a:solidFill>
                <a:latin typeface="Aptos"/>
              </a:defRPr>
            </a:pPr>
            <a:r>
              <a:t>¿Es posible inspeccionar los componentes y contrastar los resultados?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3375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388B66"/>
                </a:solidFill>
                <a:latin typeface="Aptos"/>
              </a:defRPr>
            </a:pPr>
            <a:r>
              <a:t>04 · REUTILIZACIÓN</a:t>
            </a:r>
          </a:p>
          <a:p>
            <a:pPr>
              <a:spcAft>
                <a:spcPts val="700"/>
              </a:spcAft>
              <a:defRPr sz="1600" b="0">
                <a:solidFill>
                  <a:srgbClr val="1F2B39"/>
                </a:solidFill>
                <a:latin typeface="Aptos"/>
              </a:defRPr>
            </a:pPr>
            <a:r>
              <a:t>¿El artifact podrá reutilizarse en otro entorno?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27184"/>
                </a:solidFill>
                <a:latin typeface="Aptos"/>
              </a:rPr>
              <a:t>En la Semana 1 se discuten estos criterios; su evaluación práctica se profundiza en las semanas posteriores.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08 · PRESENTACIÓN EN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2233E"/>
                </a:solidFill>
                <a:latin typeface="Aptos"/>
              </a:rPr>
              <a:t>Guion sugerido · 10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828800" cy="59436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B69B0"/>
                </a:solidFill>
                <a:latin typeface="Aptos"/>
              </a:defRPr>
            </a:pPr>
            <a:r>
              <a:t>0–2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35608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Problema y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435608"/>
            <a:ext cx="5760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B39"/>
                </a:solidFill>
                <a:latin typeface="Aptos"/>
              </a:rPr>
              <a:t>¿Qué comparamos y para qué?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76856"/>
            <a:ext cx="1828800" cy="59436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B69B0"/>
                </a:solidFill>
                <a:latin typeface="Aptos"/>
              </a:defRPr>
            </a:pPr>
            <a:r>
              <a:t>2–4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95144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Pregunta e hipótesis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95144"/>
            <a:ext cx="5760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B39"/>
                </a:solidFill>
                <a:latin typeface="Aptos"/>
              </a:rPr>
              <a:t>Presentar H₀ y H₁.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36391"/>
            <a:ext cx="1828800" cy="59436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B69B0"/>
                </a:solidFill>
                <a:latin typeface="Aptos"/>
              </a:defRPr>
            </a:pPr>
            <a:r>
              <a:t>4–6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54679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Variables y diseño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154679"/>
            <a:ext cx="5760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B39"/>
                </a:solidFill>
                <a:latin typeface="Aptos"/>
              </a:rPr>
              <a:t>Factores, tamaños, repeticiones y medición.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95928"/>
            <a:ext cx="1828800" cy="59436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B69B0"/>
                </a:solidFill>
                <a:latin typeface="Aptos"/>
              </a:defRPr>
            </a:pPr>
            <a:r>
              <a:t>6–8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014215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Repositorio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014215"/>
            <a:ext cx="5760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B39"/>
                </a:solidFill>
                <a:latin typeface="Aptos"/>
              </a:rPr>
              <a:t>Mostrar GitHub y el README.md.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55464"/>
            <a:ext cx="1828800" cy="594360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B69B0"/>
                </a:solidFill>
                <a:latin typeface="Aptos"/>
              </a:defRPr>
            </a:pPr>
            <a:r>
              <a:t>8–10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73751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33E"/>
                </a:solidFill>
                <a:latin typeface="Aptos"/>
              </a:rPr>
              <a:t>ACM y discusión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873751"/>
            <a:ext cx="5760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B39"/>
                </a:solidFill>
                <a:latin typeface="Aptos"/>
              </a:rPr>
              <a:t>Comentar documentación, ejecutabilidad y reutilización.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27184"/>
                </a:solidFill>
                <a:latin typeface="Aptos"/>
              </a:rPr>
              <a:t>Priorizar claridad metodológica: explicar qué se hará y cómo se mantendrán comparables las mediciones.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3B8C2"/>
                </a:solidFill>
                <a:latin typeface="Aptos"/>
              </a:rPr>
              <a:t>CIERRE · ENTREGABLES DE LA SEMANA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¿Qué debe quedar listo?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3B8C2"/>
                </a:solidFill>
                <a:latin typeface="Aptos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784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Repositorio creado en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3B8C2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87168"/>
            <a:ext cx="9784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README.md inicial publicado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3B8C2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54096"/>
            <a:ext cx="9784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Objetivo, pregunta e hipótesis documentados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21024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3B8C2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21024"/>
            <a:ext cx="9784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Variables y diseño experimental definidos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3B8C2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87952"/>
            <a:ext cx="9784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Propuesta preparada para la presentación de 10 minutos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3B8C2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9784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Comentarios sobre ACM Artifact Review &amp; Badging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D2DEEE"/>
                </a:solidFill>
                <a:latin typeface="Aptos"/>
              </a:rPr>
              <a:t>Resultado esperado: una propuesta experimental clara, documentada y preparada para su implementación.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09 · ACM ARTIFACT REVIEW &amp; BADGING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2233E"/>
                </a:solidFill>
                <a:latin typeface="Aptos"/>
              </a:rPr>
              <a:t>¿Qué reconocen los badges de ACM?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Los reconocimientos distinguen disponibilidad del material, funcionalidad, reutilización y validación de resultados.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388B66"/>
                </a:solidFill>
                <a:latin typeface="Aptos"/>
              </a:rPr>
              <a:t>ARTIFACTS AVAILABLE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1F2B39"/>
                </a:solidFill>
                <a:latin typeface="Aptos"/>
              </a:rPr>
              <a:t>Materiales accesibles públicamente y depositados de forma estable, normalmente con DOI o identificador persistente.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2B69B0"/>
                </a:solidFill>
                <a:latin typeface="Aptos"/>
              </a:rPr>
              <a:t>FUNCTIONAL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1F2B39"/>
                </a:solidFill>
                <a:latin typeface="Aptos"/>
              </a:rPr>
              <a:t>El artifact está documentado, puede ejecutarse y funciona de acuerdo con lo descrito.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33B8C2"/>
                </a:solidFill>
                <a:latin typeface="Aptos"/>
              </a:rPr>
              <a:t>REUSABLE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1F2B39"/>
                </a:solidFill>
                <a:latin typeface="Aptos"/>
              </a:rPr>
              <a:t>La documentación y organización permiten a terceros reutilizar o adaptar el artifact.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56616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DC8B30"/>
                </a:solidFill>
                <a:latin typeface="Aptos"/>
              </a:rPr>
              <a:t>RESULTS REPRODUCED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1F2B39"/>
                </a:solidFill>
                <a:latin typeface="Aptos"/>
              </a:rPr>
              <a:t>Un equipo independiente intenta reproducir los resultados principales con los materiales disponibles.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33E"/>
                </a:solidFill>
                <a:latin typeface="Aptos"/>
              </a:rPr>
              <a:t>Importante: tener un repositorio o ejecutar el código no concede automáticamente un badge oficial de ACM.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27184"/>
                </a:solidFill>
                <a:latin typeface="Aptos"/>
              </a:rPr>
              <a:t>Fuente: https://www.acm.org/publications/policies/artifact-review-and-badging-current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27184"/>
                </a:solidFill>
                <a:latin typeface="Aptos"/>
              </a:rPr>
              <a:t>Curso Experimentación Computacional · Semana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10 · CORRESPONDENCIA ENTRE EL MÓDULO Y ACM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2233E"/>
                </a:solidFill>
                <a:latin typeface="Aptos"/>
              </a:rPr>
              <a:t>Cómo evoluciona el artifact durante las cinco semanas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828800" cy="804672"/>
          </a:xfrm>
          <a:prstGeom prst="roundRect">
            <a:avLst/>
          </a:prstGeom>
          <a:solidFill>
            <a:srgbClr val="E1EDF9"/>
          </a:solidFill>
          <a:ln>
            <a:solidFill>
              <a:srgbClr val="E1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B69B0"/>
                </a:solidFill>
                <a:latin typeface="Aptos"/>
              </a:rPr>
              <a:t>SEMANA 1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2B39"/>
                </a:solidFill>
                <a:latin typeface="Aptos"/>
              </a:rPr>
              <a:t>Diseño y documentación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463040"/>
            <a:ext cx="8138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README.md, pregunta, hipótesis, variables y diseño experimental.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96312"/>
            <a:ext cx="1828800" cy="804672"/>
          </a:xfrm>
          <a:prstGeom prst="roundRect">
            <a:avLst/>
          </a:prstGeom>
          <a:solidFill>
            <a:srgbClr val="DFF6F6"/>
          </a:solidFill>
          <a:ln>
            <a:solidFill>
              <a:srgbClr val="DF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33B8C2"/>
                </a:solidFill>
                <a:latin typeface="Aptos"/>
              </a:rPr>
              <a:t>SEMANA 2–3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2B39"/>
                </a:solidFill>
                <a:latin typeface="Aptos"/>
              </a:rPr>
              <a:t>Implementación y funcionalidad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542032"/>
            <a:ext cx="8138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Cuatro implementaciones equivalentes, Docker y archivos CSV verificables.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75304"/>
            <a:ext cx="1828800" cy="804672"/>
          </a:xfrm>
          <a:prstGeom prst="roundRect">
            <a:avLst/>
          </a:prstGeom>
          <a:solidFill>
            <a:srgbClr val="E5F3EB"/>
          </a:solidFill>
          <a:ln>
            <a:solidFill>
              <a:srgbClr val="E5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388B66"/>
                </a:solidFill>
                <a:latin typeface="Aptos"/>
              </a:rPr>
              <a:t>SEMANA 4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2B39"/>
                </a:solidFill>
                <a:latin typeface="Aptos"/>
              </a:rPr>
              <a:t>Automatización y reutilización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621024"/>
            <a:ext cx="8138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Snakemake, consolidación de datos, análisis estadístico y gráficos.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54296"/>
            <a:ext cx="1828800" cy="804672"/>
          </a:xfrm>
          <a:prstGeom prst="roundRect">
            <a:avLst/>
          </a:prstGeom>
          <a:solidFill>
            <a:srgbClr val="FFF0DC"/>
          </a:solidFill>
          <a:ln>
            <a:solidFill>
              <a:srgbClr val="FF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C8B30"/>
                </a:solidFill>
                <a:latin typeface="Aptos"/>
              </a:rPr>
              <a:t>SEMANA 5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2B39"/>
                </a:solidFill>
                <a:latin typeface="Aptos"/>
              </a:rPr>
              <a:t>Disponibilidad y evaluación cruzada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700016"/>
            <a:ext cx="8138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B39"/>
                </a:solidFill>
                <a:latin typeface="Aptos"/>
              </a:rPr>
              <a:t>Publicación en Zenodo, DOI y prueba independiente por un compañero.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C8B30"/>
                </a:solidFill>
                <a:latin typeface="Aptos"/>
              </a:rPr>
              <a:t>La progresión del curso se alinea con los criterios ACM, pero no equivale por sí sola a una certificación oficial.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B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B69B0"/>
                </a:solidFill>
                <a:latin typeface="Aptos"/>
              </a:rPr>
              <a:t>11 · APLICACIÓN AL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468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2718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2233E"/>
                </a:solidFill>
                <a:latin typeface="Aptos"/>
              </a:rPr>
              <a:t>¿Podemos aspirar al sello verde?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834640" cy="1097280"/>
          </a:xfrm>
          <a:prstGeom prst="roundRect">
            <a:avLst/>
          </a:prstGeom>
          <a:solidFill>
            <a:srgbClr val="388B66"/>
          </a:solidFill>
          <a:ln>
            <a:solidFill>
              <a:srgbClr val="3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ARTIFACTS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651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2B39"/>
                </a:solidFill>
                <a:latin typeface="Aptos"/>
              </a:rPr>
              <a:t>Objetivo compatible con la publicación prevista en Zenodo.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417320"/>
            <a:ext cx="7315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388B66"/>
                </a:solidFill>
                <a:latin typeface="Aptos"/>
              </a:rPr>
              <a:t>1 · PUBLICACIÓN PERMANENTE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F2B39"/>
                </a:solidFill>
                <a:latin typeface="Aptos"/>
              </a:rPr>
              <a:t>Depositar una versión estable del artifact en Zenodo; GitHub por sí solo no sustituye el archivo permanente.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606040"/>
            <a:ext cx="7315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2B69B0"/>
                </a:solidFill>
                <a:latin typeface="Aptos"/>
              </a:rPr>
              <a:t>2 · IDENTIFICADOR PERSISTENTE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F2B39"/>
                </a:solidFill>
                <a:latin typeface="Aptos"/>
              </a:rPr>
              <a:t>Obtener el DOI y añadirlo al README.md junto con la información de la versión publicada.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3794760"/>
            <a:ext cx="7315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33B8C2"/>
                </a:solidFill>
                <a:latin typeface="Aptos"/>
              </a:rPr>
              <a:t>3 · MATERIALES COMPLETOS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F2B39"/>
                </a:solidFill>
                <a:latin typeface="Aptos"/>
              </a:rPr>
              <a:t>Código, instrucciones, Dockerfile, Snakefile, resultados, análisis, licencia y mini datasheet FAIR.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233E"/>
                </a:solidFill>
                <a:latin typeface="Aptos"/>
              </a:rPr>
              <a:t>Distinción clave: el proyecto puede prepararse para cumplir los requisitos, pero la obtención formal de un badge depende del proceso de evaluación ACM aplicable.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27184"/>
                </a:solidFill>
                <a:latin typeface="Aptos"/>
              </a:rPr>
              <a:t>Política oficial: https://www.acm.org/publications/policies/artifact-review-and-badging-current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3B8C2"/>
                </a:solidFill>
                <a:latin typeface="Aptos"/>
              </a:rPr>
              <a:t>12 · RECOMENDACIONES Y 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98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Cómo fortalecer el artifact científico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Trazabilidad: registrar versiones, semilla, entorno y comandos.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Verificación: comprobar que las cuatro implementaciones producen resultados equivalentes.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Integridad: conservar CSV originales y automatizar la consolidación.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Estadística: documentar supuestos del ANOVA y las comparaciones post-hoc.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Reutilización: permitir cambiar tamaños y adaptar el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Evaluación cruzada: registrar pasos, errores y diferencias observadas.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7899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2DEEE"/>
                </a:solidFill>
                <a:latin typeface="Aptos"/>
              </a:rPr>
              <a:t>Conclusión: el módulo se alinea con ACM Artifact Review &amp; Badging. El sello Artifacts Available es el más directamente relacionado con Zenodo y el DOI, pero el curso no garantiza por sí mismo un badge oficial.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33B8C2"/>
                </a:solidFill>
                <a:latin typeface="Aptos"/>
              </a:rPr>
              <a:t>Referencia: ACM Artifact Review &amp; Badging · https://www.acm.org/publications/policies/artifact-review-and-badging-current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